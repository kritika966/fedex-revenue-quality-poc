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Leakage $</c:v>
                </c:pt>
              </c:strCache>
            </c:strRef>
          </c:tx>
          <c:spPr>
            <a:solidFill>
              <a:srgbClr val="4D148C"/>
            </a:solidFill>
            <a:ln w="31750" cap="flat">
              <a:solidFill>
                <a:srgbClr val="4D14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4D148C"/>
              </a:solidFill>
              <a:ln w="9525" cap="flat">
                <a:solidFill>
                  <a:srgbClr val="4D14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May25</c:v>
                  </c:pt>
                  <c:pt idx="1">
                    <c:v>Jun25</c:v>
                  </c:pt>
                  <c:pt idx="2">
                    <c:v>Jul25</c:v>
                  </c:pt>
                  <c:pt idx="3">
                    <c:v>Aug25</c:v>
                  </c:pt>
                  <c:pt idx="4">
                    <c:v>Sep25</c:v>
                  </c:pt>
                  <c:pt idx="5">
                    <c:v>Oct25</c:v>
                  </c:pt>
                  <c:pt idx="6">
                    <c:v>Nov25</c:v>
                  </c:pt>
                  <c:pt idx="7">
                    <c:v>Dec25</c:v>
                  </c:pt>
                  <c:pt idx="8">
                    <c:v>Jan26</c:v>
                  </c:pt>
                  <c:pt idx="9">
                    <c:v>Feb26</c:v>
                  </c:pt>
                  <c:pt idx="10">
                    <c:v>Mar26</c:v>
                  </c:pt>
                  <c:pt idx="11">
                    <c:v>Apr26</c:v>
                  </c:pt>
                  <c:pt idx="12">
                    <c:v>May26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4092</c:v>
                </c:pt>
                <c:pt idx="1">
                  <c:v>3835</c:v>
                </c:pt>
                <c:pt idx="2">
                  <c:v>4935</c:v>
                </c:pt>
                <c:pt idx="3">
                  <c:v>5071</c:v>
                </c:pt>
                <c:pt idx="4">
                  <c:v>5914</c:v>
                </c:pt>
                <c:pt idx="5">
                  <c:v>6249</c:v>
                </c:pt>
                <c:pt idx="6">
                  <c:v>6699</c:v>
                </c:pt>
                <c:pt idx="7">
                  <c:v>6119</c:v>
                </c:pt>
                <c:pt idx="8">
                  <c:v>6855</c:v>
                </c:pt>
                <c:pt idx="9">
                  <c:v>5036</c:v>
                </c:pt>
                <c:pt idx="10">
                  <c:v>6440</c:v>
                </c:pt>
                <c:pt idx="11">
                  <c:v>5875</c:v>
                </c:pt>
                <c:pt idx="12">
                  <c:v>5011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4DCF2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B657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DEAF5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B65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Leakage $</c:v>
                </c:pt>
              </c:strCache>
            </c:strRef>
          </c:tx>
          <c:spPr>
            <a:solidFill>
              <a:srgbClr val="4D148C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418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Home &amp; Bulky</c:v>
                  </c:pt>
                  <c:pt idx="1">
                    <c:v>Apparel/Soft Goods</c:v>
                  </c:pt>
                  <c:pt idx="2">
                    <c:v>Electronics</c:v>
                  </c:pt>
                  <c:pt idx="3">
                    <c:v>Health/Beauty</c:v>
                  </c:pt>
                  <c:pt idx="4">
                    <c:v>Industrial/B2B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54652</c:v>
                </c:pt>
                <c:pt idx="1">
                  <c:v>13340</c:v>
                </c:pt>
                <c:pt idx="2">
                  <c:v>2071</c:v>
                </c:pt>
                <c:pt idx="3">
                  <c:v>1546</c:v>
                </c:pt>
                <c:pt idx="4">
                  <c:v>522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850" u="none">
                  <a:solidFill>
                    <a:srgbClr val="2418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80" b="0" i="0" u="none" strike="noStrike">
                <a:solidFill>
                  <a:srgbClr val="6B657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DEAF5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65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Leakage $</c:v>
                </c:pt>
              </c:strCache>
            </c:strRef>
          </c:tx>
          <c:spPr>
            <a:solidFill>
              <a:srgbClr val="FF6600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418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Tier 1 — Act Now</c:v>
                  </c:pt>
                  <c:pt idx="1">
                    <c:v>Tier 2 — Monitor</c:v>
                  </c:pt>
                  <c:pt idx="2">
                    <c:v>Tier 3 — Healthy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25753</c:v>
                </c:pt>
                <c:pt idx="1">
                  <c:v>25830</c:v>
                </c:pt>
                <c:pt idx="2">
                  <c:v>20548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900" u="none">
                  <a:solidFill>
                    <a:srgbClr val="2418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657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DEAF5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65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241830"/>
                </a:solidFill>
                <a:latin typeface="Arial"/>
              </a:defRPr>
            </a:pPr>
            <a:r>
              <a:rPr sz="1250" b="0" i="0" u="none" strike="noStrike">
                <a:solidFill>
                  <a:srgbClr val="241830"/>
                </a:solidFill>
                <a:latin typeface="Arial"/>
              </a:rPr>
              <a:t>Projected monthly leakage ($)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 (no action)</c:v>
                </c:pt>
              </c:strCache>
            </c:strRef>
          </c:tx>
          <c:spPr>
            <a:solidFill>
              <a:srgbClr val="6B6577"/>
            </a:solidFill>
            <a:ln w="31750" cap="flat">
              <a:solidFill>
                <a:srgbClr val="6B657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6B6577"/>
              </a:solidFill>
              <a:ln w="9525" cap="flat">
                <a:solidFill>
                  <a:srgbClr val="6B657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Jun26</c:v>
                  </c:pt>
                  <c:pt idx="1">
                    <c:v>Jul26</c:v>
                  </c:pt>
                  <c:pt idx="2">
                    <c:v>Aug26</c:v>
                  </c:pt>
                  <c:pt idx="3">
                    <c:v>Sep26</c:v>
                  </c:pt>
                  <c:pt idx="4">
                    <c:v>Oct26</c:v>
                  </c:pt>
                  <c:pt idx="5">
                    <c:v>Nov26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6448</c:v>
                </c:pt>
                <c:pt idx="1">
                  <c:v>6576</c:v>
                </c:pt>
                <c:pt idx="2">
                  <c:v>6705</c:v>
                </c:pt>
                <c:pt idx="3">
                  <c:v>6833</c:v>
                </c:pt>
                <c:pt idx="4">
                  <c:v>6962</c:v>
                </c:pt>
                <c:pt idx="5">
                  <c:v>7090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intervention</c:v>
                </c:pt>
              </c:strCache>
            </c:strRef>
          </c:tx>
          <c:spPr>
            <a:solidFill>
              <a:srgbClr val="FF6600"/>
            </a:solidFill>
            <a:ln w="31750" cap="flat">
              <a:solidFill>
                <a:srgbClr val="FF66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FF6600"/>
              </a:solidFill>
              <a:ln w="9525" cap="flat">
                <a:solidFill>
                  <a:srgbClr val="FF66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Jun26</c:v>
                  </c:pt>
                  <c:pt idx="1">
                    <c:v>Jul26</c:v>
                  </c:pt>
                  <c:pt idx="2">
                    <c:v>Aug26</c:v>
                  </c:pt>
                  <c:pt idx="3">
                    <c:v>Sep26</c:v>
                  </c:pt>
                  <c:pt idx="4">
                    <c:v>Oct26</c:v>
                  </c:pt>
                  <c:pt idx="5">
                    <c:v>Nov26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5916</c:v>
                </c:pt>
                <c:pt idx="1">
                  <c:v>5310</c:v>
                </c:pt>
                <c:pt idx="2">
                  <c:v>4677</c:v>
                </c:pt>
                <c:pt idx="3">
                  <c:v>4202</c:v>
                </c:pt>
                <c:pt idx="4">
                  <c:v>3975</c:v>
                </c:pt>
                <c:pt idx="5">
                  <c:v>3971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57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DEAF5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5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4183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image" Target="../media/image-5-1.png"/><Relationship Id="rId4" Type="http://schemas.openxmlformats.org/officeDocument/2006/relationships/image" Target="../media/image-5-1.png"/><Relationship Id="rId5" Type="http://schemas.openxmlformats.org/officeDocument/2006/relationships/image" Target="../media/image-5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0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6400800" cy="6400800"/>
          </a:xfrm>
          <a:prstGeom prst="ellipse">
            <a:avLst/>
          </a:prstGeom>
          <a:solidFill>
            <a:srgbClr val="2E0C57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3291840" cy="3291840"/>
          </a:xfrm>
          <a:prstGeom prst="ellipse">
            <a:avLst/>
          </a:prstGeom>
          <a:solidFill>
            <a:srgbClr val="4D148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SCIENCE — PROOF OF CONCEPT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2377440"/>
            <a:ext cx="96926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Quality &amp; Leakage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Recovery Engine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416052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D9D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Detecting revenue leakage, prioritizing which accounts to act on, and forecasting the recovery — an end-to-end analytical approach to revenue quality.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5166360"/>
            <a:ext cx="20116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492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F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Kritika</a:t>
            </a:r>
            <a:pPr indent="0" marL="0">
              <a:buNone/>
            </a:pPr>
            <a:r>
              <a:rPr lang="en-US" sz="1250" dirty="0">
                <a:solidFill>
                  <a:srgbClr val="AF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mahnakritika3@gmail.com   ·   August 2026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6263640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8F8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analysis, not affiliated with or endorsed by FedEx. Built entirely on public information — no proprietary, confidential, or internal FedEx data was used.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DECK COVERS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business signal to a working POC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1856232"/>
            <a:ext cx="502920" cy="502920"/>
          </a:xfrm>
          <a:prstGeom prst="ellipse">
            <a:avLst/>
          </a:prstGeom>
          <a:solidFill>
            <a:srgbClr val="4D148C"/>
          </a:solidFill>
          <a:ln/>
        </p:spPr>
      </p:sp>
      <p:pic>
        <p:nvPicPr>
          <p:cNvPr id="6" name="Image 0" descr="/home/claude/fedex_poc/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9653" y="1976933"/>
            <a:ext cx="261518" cy="2615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80136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1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 The opportunity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417320" y="2167128"/>
            <a:ext cx="4206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8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revenue quality in low-density, e-commerce-driven shipments is a live, urgent problem — grounded in public earnings calls and industry signals.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6172200" y="160020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28232" y="1856232"/>
            <a:ext cx="502920" cy="502920"/>
          </a:xfrm>
          <a:prstGeom prst="ellipse">
            <a:avLst/>
          </a:prstGeom>
          <a:solidFill>
            <a:srgbClr val="4D148C"/>
          </a:solidFill>
          <a:ln/>
        </p:spPr>
      </p:sp>
      <p:pic>
        <p:nvPicPr>
          <p:cNvPr id="11" name="Image 1" descr="/home/claude/fedex_poc/icons/ale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8933" y="1976933"/>
            <a:ext cx="261518" cy="26151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086600" y="180136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1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 Root-cause analysis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7086600" y="2167128"/>
            <a:ext cx="4206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8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5W framing, a 5-Whys chain, and a fishbone diagram tracing the leakage back to its structural causes.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502920" y="3136392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58952" y="3392424"/>
            <a:ext cx="502920" cy="502920"/>
          </a:xfrm>
          <a:prstGeom prst="ellipse">
            <a:avLst/>
          </a:prstGeom>
          <a:solidFill>
            <a:srgbClr val="4D148C"/>
          </a:solidFill>
          <a:ln/>
        </p:spPr>
      </p:sp>
      <p:pic>
        <p:nvPicPr>
          <p:cNvPr id="16" name="Image 2" descr="/home/claude/fedex_poc/icons/cp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3" y="3513125"/>
            <a:ext cx="261518" cy="26151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33375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1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 The POC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1417320" y="3703320"/>
            <a:ext cx="4206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8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Python pipeline — Detect → Target → Forecast — built on an illustrative, publicly-grounded synthetic dataset.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6172200" y="3136392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28232" y="3392424"/>
            <a:ext cx="502920" cy="502920"/>
          </a:xfrm>
          <a:prstGeom prst="ellipse">
            <a:avLst/>
          </a:prstGeom>
          <a:solidFill>
            <a:srgbClr val="4D148C"/>
          </a:solidFill>
          <a:ln/>
        </p:spPr>
      </p:sp>
      <p:pic>
        <p:nvPicPr>
          <p:cNvPr id="21" name="Image 3" descr="/home/claude/fedex_poc/icons/barch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8933" y="3513125"/>
            <a:ext cx="261518" cy="26151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86600" y="33375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1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 Results &amp; business case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7086600" y="3703320"/>
            <a:ext cx="4206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8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model finds, who it flags, and what recovery looks like over the next two quarters.</a:t>
            </a:r>
            <a:endParaRPr lang="en-US" sz="1080" dirty="0"/>
          </a:p>
        </p:txBody>
      </p:sp>
      <p:sp>
        <p:nvSpPr>
          <p:cNvPr id="24" name="Shape 18"/>
          <p:cNvSpPr/>
          <p:nvPr/>
        </p:nvSpPr>
        <p:spPr>
          <a:xfrm>
            <a:off x="502920" y="4672584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58952" y="4928616"/>
            <a:ext cx="502920" cy="502920"/>
          </a:xfrm>
          <a:prstGeom prst="ellipse">
            <a:avLst/>
          </a:prstGeom>
          <a:solidFill>
            <a:srgbClr val="4D148C"/>
          </a:solidFill>
          <a:ln/>
        </p:spPr>
      </p:sp>
      <p:pic>
        <p:nvPicPr>
          <p:cNvPr id="26" name="Image 4" descr="/home/claude/fedex_poc/icons/ma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53" y="5049317"/>
            <a:ext cx="261518" cy="26151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17320" y="487375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1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 From POC to production</a:t>
            </a:r>
            <a:endParaRPr lang="en-US" sz="1550" dirty="0"/>
          </a:p>
        </p:txBody>
      </p:sp>
      <p:sp>
        <p:nvSpPr>
          <p:cNvPr id="28" name="Text 21"/>
          <p:cNvSpPr/>
          <p:nvPr/>
        </p:nvSpPr>
        <p:spPr>
          <a:xfrm>
            <a:off x="1417320" y="5239512"/>
            <a:ext cx="4206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8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realistic 4-phase path to putting this on real shipment and billing data.</a:t>
            </a:r>
            <a:endParaRPr lang="en-US" sz="1080" dirty="0"/>
          </a:p>
        </p:txBody>
      </p:sp>
      <p:sp>
        <p:nvSpPr>
          <p:cNvPr id="29" name="Shape 22"/>
          <p:cNvSpPr/>
          <p:nvPr/>
        </p:nvSpPr>
        <p:spPr>
          <a:xfrm>
            <a:off x="6172200" y="4672584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28232" y="4928616"/>
            <a:ext cx="502920" cy="502920"/>
          </a:xfrm>
          <a:prstGeom prst="ellipse">
            <a:avLst/>
          </a:prstGeom>
          <a:solidFill>
            <a:srgbClr val="4D148C"/>
          </a:solidFill>
          <a:ln/>
        </p:spPr>
      </p:sp>
      <p:pic>
        <p:nvPicPr>
          <p:cNvPr id="31" name="Image 5" descr="/home/claude/fedex_poc/icons/awar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8933" y="5049317"/>
            <a:ext cx="261518" cy="26151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086600" y="487375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1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 Key takeaways</a:t>
            </a:r>
            <a:endParaRPr lang="en-US" sz="1550" dirty="0"/>
          </a:p>
        </p:txBody>
      </p:sp>
      <p:sp>
        <p:nvSpPr>
          <p:cNvPr id="33" name="Text 25"/>
          <p:cNvSpPr/>
          <p:nvPr/>
        </p:nvSpPr>
        <p:spPr>
          <a:xfrm>
            <a:off x="7086600" y="5239512"/>
            <a:ext cx="4206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8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summary of the problem, the approach, and the recommended path forward.</a:t>
            </a:r>
            <a:endParaRPr lang="en-US" sz="1080" dirty="0"/>
          </a:p>
        </p:txBody>
      </p:sp>
      <p:sp>
        <p:nvSpPr>
          <p:cNvPr id="34" name="Text 26"/>
          <p:cNvSpPr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Quality &amp; Leakage Recovery Engine — Proof of Concept</a:t>
            </a:r>
            <a:endParaRPr lang="en-US" sz="850" dirty="0"/>
          </a:p>
        </p:txBody>
      </p:sp>
      <p:sp>
        <p:nvSpPr>
          <p:cNvPr id="35" name="Text 27"/>
          <p:cNvSpPr/>
          <p:nvPr/>
        </p:nvSpPr>
        <p:spPr>
          <a:xfrm>
            <a:off x="11140135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signal: what's happening in FedEx's business right now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public data points point at the same underlying problem — revenue quality in low-density, e-commerce-driven shipments.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58952" y="2066544"/>
            <a:ext cx="502920" cy="502920"/>
          </a:xfrm>
          <a:prstGeom prst="ellipse">
            <a:avLst/>
          </a:prstGeom>
          <a:solidFill>
            <a:srgbClr val="4D148C"/>
          </a:solidFill>
          <a:ln/>
        </p:spPr>
      </p:sp>
      <p:pic>
        <p:nvPicPr>
          <p:cNvPr id="7" name="Image 0" descr="/home/claude/fedex_poc/icons/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9653" y="2187245"/>
            <a:ext cx="261518" cy="26151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201168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1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DIM-weight rules tightened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417320" y="2395728"/>
            <a:ext cx="42062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3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 18, 2025: FedEx began rounding every fractional inch UP on all three dimensions — a direct lever to capture more revenue from light, bulky e-commerce packages.</a:t>
            </a:r>
            <a:endParaRPr lang="en-US" sz="1030" dirty="0"/>
          </a:p>
        </p:txBody>
      </p:sp>
      <p:sp>
        <p:nvSpPr>
          <p:cNvPr id="10" name="Text 7"/>
          <p:cNvSpPr/>
          <p:nvPr/>
        </p:nvSpPr>
        <p:spPr>
          <a:xfrm>
            <a:off x="758952" y="3447288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i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trade press (ShipperHQ, PARCEL Industry, 3PL Center)</a:t>
            </a:r>
            <a:endParaRPr lang="en-US" sz="860" dirty="0"/>
          </a:p>
        </p:txBody>
      </p:sp>
      <p:sp>
        <p:nvSpPr>
          <p:cNvPr id="11" name="Shape 8"/>
          <p:cNvSpPr/>
          <p:nvPr/>
        </p:nvSpPr>
        <p:spPr>
          <a:xfrm>
            <a:off x="6172200" y="182880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066544"/>
            <a:ext cx="502920" cy="502920"/>
          </a:xfrm>
          <a:prstGeom prst="ellipse">
            <a:avLst/>
          </a:prstGeom>
          <a:solidFill>
            <a:srgbClr val="4D148C"/>
          </a:solidFill>
          <a:ln/>
        </p:spPr>
      </p:sp>
      <p:pic>
        <p:nvPicPr>
          <p:cNvPr id="13" name="Image 1" descr="/home/claude/fedex_poc/icons/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8933" y="2187245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086600" y="201168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1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Competitors moved in lockstep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7086600" y="2395728"/>
            <a:ext cx="42062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3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 rolled out a nearly identical dimensional-rounding change around the same time — this is an industry-wide revenue-quality tactic, not a FedEx-only move.</a:t>
            </a:r>
            <a:endParaRPr lang="en-US" sz="1030" dirty="0"/>
          </a:p>
        </p:txBody>
      </p:sp>
      <p:sp>
        <p:nvSpPr>
          <p:cNvPr id="16" name="Text 12"/>
          <p:cNvSpPr/>
          <p:nvPr/>
        </p:nvSpPr>
        <p:spPr>
          <a:xfrm>
            <a:off x="6428232" y="3447288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i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trade press (ShipperHQ, PARCEL Industry, 3PL Center)</a:t>
            </a:r>
            <a:endParaRPr lang="en-US" sz="860" dirty="0"/>
          </a:p>
        </p:txBody>
      </p:sp>
      <p:sp>
        <p:nvSpPr>
          <p:cNvPr id="17" name="Shape 13"/>
          <p:cNvSpPr/>
          <p:nvPr/>
        </p:nvSpPr>
        <p:spPr>
          <a:xfrm>
            <a:off x="502920" y="3995928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58952" y="4233672"/>
            <a:ext cx="502920" cy="502920"/>
          </a:xfrm>
          <a:prstGeom prst="ellipse">
            <a:avLst/>
          </a:prstGeom>
          <a:solidFill>
            <a:srgbClr val="4D148C"/>
          </a:solidFill>
          <a:ln/>
        </p:spPr>
      </p:sp>
      <p:pic>
        <p:nvPicPr>
          <p:cNvPr id="19" name="Image 2" descr="/home/claude/fedex_poc/icons/trend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3" y="4354373"/>
            <a:ext cx="261518" cy="26151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417320" y="417880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1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“Revenue quality” is the watchword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1417320" y="4562856"/>
            <a:ext cx="42062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3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FY26 package yield was reported up 11% year over year, with company commentary attributing the large majority of that gain to base price increases rather than fuel or volume.</a:t>
            </a:r>
            <a:endParaRPr lang="en-US" sz="1030" dirty="0"/>
          </a:p>
        </p:txBody>
      </p:sp>
      <p:sp>
        <p:nvSpPr>
          <p:cNvPr id="22" name="Text 17"/>
          <p:cNvSpPr/>
          <p:nvPr/>
        </p:nvSpPr>
        <p:spPr>
          <a:xfrm>
            <a:off x="758952" y="5614416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i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FedEx Q4 FY26 earnings coverage (multiple financial outlets)</a:t>
            </a:r>
            <a:endParaRPr lang="en-US" sz="860" dirty="0"/>
          </a:p>
        </p:txBody>
      </p:sp>
      <p:sp>
        <p:nvSpPr>
          <p:cNvPr id="23" name="Shape 18"/>
          <p:cNvSpPr/>
          <p:nvPr/>
        </p:nvSpPr>
        <p:spPr>
          <a:xfrm>
            <a:off x="6172200" y="3995928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28232" y="4233672"/>
            <a:ext cx="502920" cy="502920"/>
          </a:xfrm>
          <a:prstGeom prst="ellipse">
            <a:avLst/>
          </a:prstGeom>
          <a:solidFill>
            <a:srgbClr val="4D148C"/>
          </a:solidFill>
          <a:ln/>
        </p:spPr>
      </p:sp>
      <p:pic>
        <p:nvPicPr>
          <p:cNvPr id="25" name="Image 3" descr="/home/claude/fedex_poc/icons/packa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8933" y="4354373"/>
            <a:ext cx="261518" cy="26151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086600" y="417880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1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 Economy volume declining</a:t>
            </a:r>
            <a:endParaRPr lang="en-US" sz="1350" dirty="0"/>
          </a:p>
        </p:txBody>
      </p:sp>
      <p:sp>
        <p:nvSpPr>
          <p:cNvPr id="27" name="Text 21"/>
          <p:cNvSpPr/>
          <p:nvPr/>
        </p:nvSpPr>
        <p:spPr>
          <a:xfrm>
            <a:off x="7086600" y="4562856"/>
            <a:ext cx="42062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3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Economy volume was reported down roughly 5% in the quarter, described as a deliberate trade of low-margin volume for margin quality.</a:t>
            </a:r>
            <a:endParaRPr lang="en-US" sz="1030" dirty="0"/>
          </a:p>
        </p:txBody>
      </p:sp>
      <p:sp>
        <p:nvSpPr>
          <p:cNvPr id="28" name="Text 22"/>
          <p:cNvSpPr/>
          <p:nvPr/>
        </p:nvSpPr>
        <p:spPr>
          <a:xfrm>
            <a:off x="6428232" y="5614416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i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FedEx Q4 FY26 earnings coverage (multiple financial outlets)</a:t>
            </a:r>
            <a:endParaRPr lang="en-US" sz="860" dirty="0"/>
          </a:p>
        </p:txBody>
      </p:sp>
      <p:sp>
        <p:nvSpPr>
          <p:cNvPr id="29" name="Text 23"/>
          <p:cNvSpPr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Quality &amp; Leakage Recovery Engine — Proof of Concept</a:t>
            </a:r>
            <a:endParaRPr lang="en-US" sz="850" dirty="0"/>
          </a:p>
        </p:txBody>
      </p:sp>
      <p:sp>
        <p:nvSpPr>
          <p:cNvPr id="30" name="Text 24"/>
          <p:cNvSpPr/>
          <p:nvPr/>
        </p:nvSpPr>
        <p:spPr>
          <a:xfrm>
            <a:off x="11140135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 ANALYSIS, PART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Framing the problem: the 5W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2029968" cy="4297680"/>
          </a:xfrm>
          <a:prstGeom prst="roundRect">
            <a:avLst>
              <a:gd name="adj" fmla="val 5405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67512" y="1892808"/>
            <a:ext cx="17007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D14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67512" y="2404872"/>
            <a:ext cx="1700784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20" dirty="0">
                <a:solidFill>
                  <a:srgbClr val="241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leakage &amp; yield erosion: shipments — especially low-density, “light &amp; bulky” e-commerce packages — are billed below true cost-to-serve and target margin.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2679192" y="1691640"/>
            <a:ext cx="2029968" cy="4297680"/>
          </a:xfrm>
          <a:prstGeom prst="roundRect">
            <a:avLst>
              <a:gd name="adj" fmla="val 5405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843784" y="1892808"/>
            <a:ext cx="17007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D14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843784" y="2404872"/>
            <a:ext cx="1700784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20" dirty="0">
                <a:solidFill>
                  <a:srgbClr val="241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Science, Pricing, and Sales teams own the fix; Finance feels the margin impact; SME and e-commerce accounts are most exposed.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4855464" y="1691640"/>
            <a:ext cx="2029968" cy="4297680"/>
          </a:xfrm>
          <a:prstGeom prst="roundRect">
            <a:avLst>
              <a:gd name="adj" fmla="val 5405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0056" y="1892808"/>
            <a:ext cx="17007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D14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20056" y="2404872"/>
            <a:ext cx="1700784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20" dirty="0">
                <a:solidFill>
                  <a:srgbClr val="241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structural, ongoing issue — acute since the e-commerce boom, now urgent given the Aug 2025 DIM rule change and the CY2026 Ground Economy volume decline.</a:t>
            </a:r>
            <a:endParaRPr lang="en-US" sz="1020" dirty="0"/>
          </a:p>
        </p:txBody>
      </p:sp>
      <p:sp>
        <p:nvSpPr>
          <p:cNvPr id="13" name="Shape 11"/>
          <p:cNvSpPr/>
          <p:nvPr/>
        </p:nvSpPr>
        <p:spPr>
          <a:xfrm>
            <a:off x="7031736" y="1691640"/>
            <a:ext cx="2029968" cy="4297680"/>
          </a:xfrm>
          <a:prstGeom prst="roundRect">
            <a:avLst>
              <a:gd name="adj" fmla="val 5405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196328" y="1892808"/>
            <a:ext cx="17007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D14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196328" y="2404872"/>
            <a:ext cx="1700784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20" dirty="0">
                <a:solidFill>
                  <a:srgbClr val="241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Concentrated in the FedEx Ground / Ground Economy network, in low-density product categories (apparel, home goods) and SME/e-commerce accounts.</a:t>
            </a:r>
            <a:endParaRPr lang="en-US" sz="1020" dirty="0"/>
          </a:p>
        </p:txBody>
      </p:sp>
      <p:sp>
        <p:nvSpPr>
          <p:cNvPr id="16" name="Shape 14"/>
          <p:cNvSpPr/>
          <p:nvPr/>
        </p:nvSpPr>
        <p:spPr>
          <a:xfrm>
            <a:off x="9208008" y="1691640"/>
            <a:ext cx="2029968" cy="4297680"/>
          </a:xfrm>
          <a:prstGeom prst="roundRect">
            <a:avLst>
              <a:gd name="adj" fmla="val 5405"/>
            </a:avLst>
          </a:prstGeom>
          <a:solidFill>
            <a:srgbClr val="4D148C"/>
          </a:solidFill>
          <a:ln w="12700">
            <a:solidFill>
              <a:srgbClr val="4D148C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372600" y="1892808"/>
            <a:ext cx="17007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372600" y="2404872"/>
            <a:ext cx="1700784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20" dirty="0">
                <a:solidFill>
                  <a:srgbClr val="EDE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rate cards and periodic reviews can't track fast-moving package-density mix — so pricing lags reality instead of correcting it continuously.</a:t>
            </a:r>
            <a:endParaRPr lang="en-US" sz="1020" dirty="0"/>
          </a:p>
        </p:txBody>
      </p:sp>
      <p:sp>
        <p:nvSpPr>
          <p:cNvPr id="19" name="Text 17"/>
          <p:cNvSpPr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Quality &amp; Leakage Recovery Engine — Proof of Concept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140135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 ANALYSIS, PART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5 Whys: tracing leakage to its root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55064"/>
            <a:ext cx="457200" cy="457200"/>
          </a:xfrm>
          <a:prstGeom prst="ellipse">
            <a:avLst/>
          </a:prstGeom>
          <a:solidFill>
            <a:srgbClr val="4D148C"/>
          </a:solidFill>
          <a:ln/>
        </p:spPr>
      </p:sp>
      <p:pic>
        <p:nvPicPr>
          <p:cNvPr id="5" name="Image 0" descr="/home/claude/fedex_poc/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764792"/>
            <a:ext cx="237744" cy="2377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61288" y="1600200"/>
            <a:ext cx="10058400" cy="768096"/>
          </a:xfrm>
          <a:prstGeom prst="roundRect">
            <a:avLst>
              <a:gd name="adj" fmla="val 14286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371600" y="1664208"/>
            <a:ext cx="9601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3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1:  </a:t>
            </a:r>
            <a:pPr indent="0" marL="0">
              <a:buNone/>
            </a:pPr>
            <a:r>
              <a:rPr lang="en-US" sz="1130" b="1" dirty="0">
                <a:solidFill>
                  <a:srgbClr val="241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revenue quality eroding in e-commerce / Ground Economy?</a:t>
            </a:r>
            <a:endParaRPr lang="en-US" sz="1130" dirty="0"/>
          </a:p>
        </p:txBody>
      </p:sp>
      <p:sp>
        <p:nvSpPr>
          <p:cNvPr id="8" name="Text 5"/>
          <p:cNvSpPr/>
          <p:nvPr/>
        </p:nvSpPr>
        <p:spPr>
          <a:xfrm>
            <a:off x="1371600" y="19659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3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many shipments are billed below their true, correctly-measured cost-to-serve.</a:t>
            </a:r>
            <a:endParaRPr lang="en-US" sz="1030" dirty="0"/>
          </a:p>
        </p:txBody>
      </p:sp>
      <p:sp>
        <p:nvSpPr>
          <p:cNvPr id="9" name="Shape 6"/>
          <p:cNvSpPr/>
          <p:nvPr/>
        </p:nvSpPr>
        <p:spPr>
          <a:xfrm>
            <a:off x="502920" y="2551176"/>
            <a:ext cx="457200" cy="457200"/>
          </a:xfrm>
          <a:prstGeom prst="ellipse">
            <a:avLst/>
          </a:prstGeom>
          <a:solidFill>
            <a:srgbClr val="4D148C"/>
          </a:solidFill>
          <a:ln/>
        </p:spPr>
      </p:sp>
      <p:pic>
        <p:nvPicPr>
          <p:cNvPr id="10" name="Image 1" descr="/home/claude/fedex_poc/icons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2660904"/>
            <a:ext cx="237744" cy="23774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1161288" y="2496312"/>
            <a:ext cx="10058400" cy="768096"/>
          </a:xfrm>
          <a:prstGeom prst="roundRect">
            <a:avLst>
              <a:gd name="adj" fmla="val 14286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1371600" y="2560320"/>
            <a:ext cx="9601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3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2:  </a:t>
            </a:r>
            <a:pPr indent="0" marL="0">
              <a:buNone/>
            </a:pPr>
            <a:r>
              <a:rPr lang="en-US" sz="1130" b="1" dirty="0">
                <a:solidFill>
                  <a:srgbClr val="241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are they billed below true cost?</a:t>
            </a:r>
            <a:endParaRPr lang="en-US" sz="1130" dirty="0"/>
          </a:p>
        </p:txBody>
      </p:sp>
      <p:sp>
        <p:nvSpPr>
          <p:cNvPr id="13" name="Text 9"/>
          <p:cNvSpPr/>
          <p:nvPr/>
        </p:nvSpPr>
        <p:spPr>
          <a:xfrm>
            <a:off x="1371600" y="2862072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3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billable weight is set by static, negotiated rate terms — not continuously reconciled against actual package density.</a:t>
            </a:r>
            <a:endParaRPr lang="en-US" sz="1030" dirty="0"/>
          </a:p>
        </p:txBody>
      </p:sp>
      <p:sp>
        <p:nvSpPr>
          <p:cNvPr id="14" name="Shape 10"/>
          <p:cNvSpPr/>
          <p:nvPr/>
        </p:nvSpPr>
        <p:spPr>
          <a:xfrm>
            <a:off x="502920" y="3447288"/>
            <a:ext cx="457200" cy="457200"/>
          </a:xfrm>
          <a:prstGeom prst="ellipse">
            <a:avLst/>
          </a:prstGeom>
          <a:solidFill>
            <a:srgbClr val="4D148C"/>
          </a:solidFill>
          <a:ln/>
        </p:spPr>
      </p:sp>
      <p:pic>
        <p:nvPicPr>
          <p:cNvPr id="15" name="Image 2" descr="/home/claude/fedex_poc/icons/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3557016"/>
            <a:ext cx="237744" cy="237744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1161288" y="3392424"/>
            <a:ext cx="10058400" cy="768096"/>
          </a:xfrm>
          <a:prstGeom prst="roundRect">
            <a:avLst>
              <a:gd name="adj" fmla="val 14286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1371600" y="3456432"/>
            <a:ext cx="9601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3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3:  </a:t>
            </a:r>
            <a:pPr indent="0" marL="0">
              <a:buNone/>
            </a:pPr>
            <a:r>
              <a:rPr lang="en-US" sz="1130" b="1" dirty="0">
                <a:solidFill>
                  <a:srgbClr val="241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aren't rates reconciled continuously?</a:t>
            </a:r>
            <a:endParaRPr lang="en-US" sz="1130" dirty="0"/>
          </a:p>
        </p:txBody>
      </p:sp>
      <p:sp>
        <p:nvSpPr>
          <p:cNvPr id="18" name="Text 13"/>
          <p:cNvSpPr/>
          <p:nvPr/>
        </p:nvSpPr>
        <p:spPr>
          <a:xfrm>
            <a:off x="1371600" y="3758184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3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there's no scalable analytics process that monitors account-level density and margin drift and triggers action.</a:t>
            </a:r>
            <a:endParaRPr lang="en-US" sz="1030" dirty="0"/>
          </a:p>
        </p:txBody>
      </p:sp>
      <p:sp>
        <p:nvSpPr>
          <p:cNvPr id="19" name="Shape 14"/>
          <p:cNvSpPr/>
          <p:nvPr/>
        </p:nvSpPr>
        <p:spPr>
          <a:xfrm>
            <a:off x="502920" y="4343400"/>
            <a:ext cx="457200" cy="457200"/>
          </a:xfrm>
          <a:prstGeom prst="ellipse">
            <a:avLst/>
          </a:prstGeom>
          <a:solidFill>
            <a:srgbClr val="4D148C"/>
          </a:solidFill>
          <a:ln/>
        </p:spPr>
      </p:sp>
      <p:pic>
        <p:nvPicPr>
          <p:cNvPr id="20" name="Image 3" descr="/home/claude/fedex_poc/icons/sear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4453128"/>
            <a:ext cx="237744" cy="237744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1161288" y="4288536"/>
            <a:ext cx="10058400" cy="768096"/>
          </a:xfrm>
          <a:prstGeom prst="roundRect">
            <a:avLst>
              <a:gd name="adj" fmla="val 14286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22" name="Text 16"/>
          <p:cNvSpPr/>
          <p:nvPr/>
        </p:nvSpPr>
        <p:spPr>
          <a:xfrm>
            <a:off x="1371600" y="4352544"/>
            <a:ext cx="9601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3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4:  </a:t>
            </a:r>
            <a:pPr indent="0" marL="0">
              <a:buNone/>
            </a:pPr>
            <a:r>
              <a:rPr lang="en-US" sz="1130" b="1" dirty="0">
                <a:solidFill>
                  <a:srgbClr val="241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there no such process?</a:t>
            </a:r>
            <a:endParaRPr lang="en-US" sz="1130" dirty="0"/>
          </a:p>
        </p:txBody>
      </p:sp>
      <p:sp>
        <p:nvSpPr>
          <p:cNvPr id="23" name="Text 17"/>
          <p:cNvSpPr/>
          <p:nvPr/>
        </p:nvSpPr>
        <p:spPr>
          <a:xfrm>
            <a:off x="1371600" y="4654296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3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pricing analytics today is largely retrospective — quarterly GRIs and periodic contract reviews — not a standing statistical monitoring system.</a:t>
            </a:r>
            <a:endParaRPr lang="en-US" sz="1030" dirty="0"/>
          </a:p>
        </p:txBody>
      </p:sp>
      <p:sp>
        <p:nvSpPr>
          <p:cNvPr id="24" name="Shape 18"/>
          <p:cNvSpPr/>
          <p:nvPr/>
        </p:nvSpPr>
        <p:spPr>
          <a:xfrm>
            <a:off x="502920" y="5239512"/>
            <a:ext cx="457200" cy="457200"/>
          </a:xfrm>
          <a:prstGeom prst="ellipse">
            <a:avLst/>
          </a:prstGeom>
          <a:solidFill>
            <a:srgbClr val="FF6600"/>
          </a:solidFill>
          <a:ln/>
        </p:spPr>
      </p:sp>
      <p:pic>
        <p:nvPicPr>
          <p:cNvPr id="25" name="Image 4" descr="/home/claude/fedex_poc/icons/searc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" y="5349240"/>
            <a:ext cx="237744" cy="237744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1161288" y="5184648"/>
            <a:ext cx="10058400" cy="768096"/>
          </a:xfrm>
          <a:prstGeom prst="roundRect">
            <a:avLst>
              <a:gd name="adj" fmla="val 14286"/>
            </a:avLst>
          </a:prstGeom>
          <a:solidFill>
            <a:srgbClr val="FFF1E6"/>
          </a:solidFill>
          <a:ln w="12700">
            <a:solidFill>
              <a:srgbClr val="FFD9B8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1371600" y="5248656"/>
            <a:ext cx="9601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3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5:  </a:t>
            </a:r>
            <a:pPr indent="0" marL="0">
              <a:buNone/>
            </a:pPr>
            <a:r>
              <a:rPr lang="en-US" sz="1130" b="1" dirty="0">
                <a:solidFill>
                  <a:srgbClr val="241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it retrospective, not continuous?</a:t>
            </a:r>
            <a:endParaRPr lang="en-US" sz="1130" dirty="0"/>
          </a:p>
        </p:txBody>
      </p:sp>
      <p:sp>
        <p:nvSpPr>
          <p:cNvPr id="28" name="Text 21"/>
          <p:cNvSpPr/>
          <p:nvPr/>
        </p:nvSpPr>
        <p:spPr>
          <a:xfrm>
            <a:off x="1371600" y="5550408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3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closing that gap requires building exactly this capability: a revenue science function that combines shipment-level modeling, elasticity analysis, and forecasting into a repeatable, proactive process.</a:t>
            </a:r>
            <a:endParaRPr lang="en-US" sz="1030" dirty="0"/>
          </a:p>
        </p:txBody>
      </p:sp>
      <p:sp>
        <p:nvSpPr>
          <p:cNvPr id="29" name="Text 22"/>
          <p:cNvSpPr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Quality &amp; Leakage Recovery Engine — Proof of Concept</a:t>
            </a:r>
            <a:endParaRPr lang="en-US" sz="850" dirty="0"/>
          </a:p>
        </p:txBody>
      </p:sp>
      <p:sp>
        <p:nvSpPr>
          <p:cNvPr id="30" name="Text 23"/>
          <p:cNvSpPr/>
          <p:nvPr/>
        </p:nvSpPr>
        <p:spPr>
          <a:xfrm>
            <a:off x="11140135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 ANALYSIS, PART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Fishbone (Ishikawa) diagram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contributing categories, all converging on the same effect — none of them fixable by a one-time rate change alone.</a:t>
            </a:r>
            <a:endParaRPr lang="en-US" sz="1150" dirty="0"/>
          </a:p>
        </p:txBody>
      </p:sp>
      <p:pic>
        <p:nvPicPr>
          <p:cNvPr id="5" name="Image 0" descr="/home/claude/fedex_poc/output/fishb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691640"/>
            <a:ext cx="11548872" cy="46634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Quality &amp; Leakage Recovery Engine — Proof of Concept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11140135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POC, PART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POC works: Detect → Target → Forecast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Python pipeline (pandas, scikit-learn) built on a synthetic, publicly-grounded shipment dataset — 60,000 shipments across 900 accounts, 13 months.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3611880" cy="4434840"/>
          </a:xfrm>
          <a:prstGeom prst="roundRect">
            <a:avLst>
              <a:gd name="adj" fmla="val 3038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58952" y="2084832"/>
            <a:ext cx="502920" cy="502920"/>
          </a:xfrm>
          <a:prstGeom prst="ellipse">
            <a:avLst/>
          </a:prstGeom>
          <a:solidFill>
            <a:srgbClr val="4D148C"/>
          </a:solidFill>
          <a:ln/>
        </p:spPr>
      </p:sp>
      <p:pic>
        <p:nvPicPr>
          <p:cNvPr id="7" name="Image 0" descr="/home/claude/fedex_poc/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9653" y="2205533"/>
            <a:ext cx="261518" cy="26151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58952" y="2724912"/>
            <a:ext cx="3099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D14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DETECT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58952" y="3108960"/>
            <a:ext cx="3099816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60" dirty="0">
                <a:solidFill>
                  <a:srgbClr val="241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 correct dimensional-weight revenue per shipment from length/width/height, and compare to what was actually billed.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758952" y="4416552"/>
            <a:ext cx="64008" cy="64008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1" name="Text 8"/>
          <p:cNvSpPr/>
          <p:nvPr/>
        </p:nvSpPr>
        <p:spPr>
          <a:xfrm>
            <a:off x="941832" y="4288536"/>
            <a:ext cx="29169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6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FedEx's published 139 in³/lb DIM divisor</a:t>
            </a:r>
            <a:endParaRPr lang="en-US" sz="960" dirty="0"/>
          </a:p>
        </p:txBody>
      </p:sp>
      <p:sp>
        <p:nvSpPr>
          <p:cNvPr id="12" name="Shape 9"/>
          <p:cNvSpPr/>
          <p:nvPr/>
        </p:nvSpPr>
        <p:spPr>
          <a:xfrm>
            <a:off x="758952" y="4983480"/>
            <a:ext cx="64008" cy="64008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3" name="Text 10"/>
          <p:cNvSpPr/>
          <p:nvPr/>
        </p:nvSpPr>
        <p:spPr>
          <a:xfrm>
            <a:off x="941832" y="4855464"/>
            <a:ext cx="29169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6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both the legacy and Aug-2025 rounding rules</a:t>
            </a:r>
            <a:endParaRPr lang="en-US" sz="960" dirty="0"/>
          </a:p>
        </p:txBody>
      </p:sp>
      <p:sp>
        <p:nvSpPr>
          <p:cNvPr id="14" name="Shape 11"/>
          <p:cNvSpPr/>
          <p:nvPr/>
        </p:nvSpPr>
        <p:spPr>
          <a:xfrm>
            <a:off x="758952" y="5550408"/>
            <a:ext cx="64008" cy="64008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5" name="Text 12"/>
          <p:cNvSpPr/>
          <p:nvPr/>
        </p:nvSpPr>
        <p:spPr>
          <a:xfrm>
            <a:off x="941832" y="5422392"/>
            <a:ext cx="29169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6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the $ gap, shipment by shipment</a:t>
            </a:r>
            <a:endParaRPr lang="en-US" sz="960" dirty="0"/>
          </a:p>
        </p:txBody>
      </p:sp>
      <p:sp>
        <p:nvSpPr>
          <p:cNvPr id="16" name="Shape 13"/>
          <p:cNvSpPr/>
          <p:nvPr/>
        </p:nvSpPr>
        <p:spPr>
          <a:xfrm>
            <a:off x="4334256" y="1828800"/>
            <a:ext cx="3611880" cy="4434840"/>
          </a:xfrm>
          <a:prstGeom prst="roundRect">
            <a:avLst>
              <a:gd name="adj" fmla="val 3038"/>
            </a:avLst>
          </a:prstGeom>
          <a:solidFill>
            <a:srgbClr val="4D148C"/>
          </a:solidFill>
          <a:ln w="12700">
            <a:solidFill>
              <a:srgbClr val="4D148C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590288" y="2084832"/>
            <a:ext cx="502920" cy="502920"/>
          </a:xfrm>
          <a:prstGeom prst="ellipse">
            <a:avLst/>
          </a:prstGeom>
          <a:solidFill>
            <a:srgbClr val="FF6600"/>
          </a:solidFill>
          <a:ln/>
        </p:spPr>
      </p:sp>
      <p:pic>
        <p:nvPicPr>
          <p:cNvPr id="18" name="Image 1" descr="/home/claude/fedex_poc/icons/ta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0989" y="2205533"/>
            <a:ext cx="261518" cy="26151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90288" y="2724912"/>
            <a:ext cx="3099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TARGET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4590288" y="3108960"/>
            <a:ext cx="3099816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60" dirty="0">
                <a:solidFill>
                  <a:srgbClr val="EDE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up to the account level; score every account on margin gap + leakage share, and size two levers: a no-risk billing fix and a capped, elasticity-aware repricing ask.</a:t>
            </a:r>
            <a:endParaRPr lang="en-US" sz="1060" dirty="0"/>
          </a:p>
        </p:txBody>
      </p:sp>
      <p:sp>
        <p:nvSpPr>
          <p:cNvPr id="21" name="Shape 17"/>
          <p:cNvSpPr/>
          <p:nvPr/>
        </p:nvSpPr>
        <p:spPr>
          <a:xfrm>
            <a:off x="4590288" y="4416552"/>
            <a:ext cx="64008" cy="64008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2" name="Text 18"/>
          <p:cNvSpPr/>
          <p:nvPr/>
        </p:nvSpPr>
        <p:spPr>
          <a:xfrm>
            <a:off x="4773168" y="4288536"/>
            <a:ext cx="29169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60" dirty="0">
                <a:solidFill>
                  <a:srgbClr val="EDE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risk score ranks 900 accounts</a:t>
            </a:r>
            <a:endParaRPr lang="en-US" sz="960" dirty="0"/>
          </a:p>
        </p:txBody>
      </p:sp>
      <p:sp>
        <p:nvSpPr>
          <p:cNvPr id="23" name="Shape 19"/>
          <p:cNvSpPr/>
          <p:nvPr/>
        </p:nvSpPr>
        <p:spPr>
          <a:xfrm>
            <a:off x="4590288" y="4983480"/>
            <a:ext cx="64008" cy="64008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4" name="Text 20"/>
          <p:cNvSpPr/>
          <p:nvPr/>
        </p:nvSpPr>
        <p:spPr>
          <a:xfrm>
            <a:off x="4773168" y="4855464"/>
            <a:ext cx="29169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60" dirty="0">
                <a:solidFill>
                  <a:srgbClr val="EDE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Segment-level price elasticity (SME/Mid/Enterprise)</a:t>
            </a:r>
            <a:endParaRPr lang="en-US" sz="960" dirty="0"/>
          </a:p>
        </p:txBody>
      </p:sp>
      <p:sp>
        <p:nvSpPr>
          <p:cNvPr id="25" name="Shape 21"/>
          <p:cNvSpPr/>
          <p:nvPr/>
        </p:nvSpPr>
        <p:spPr>
          <a:xfrm>
            <a:off x="4590288" y="5550408"/>
            <a:ext cx="64008" cy="64008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6" name="Text 22"/>
          <p:cNvSpPr/>
          <p:nvPr/>
        </p:nvSpPr>
        <p:spPr>
          <a:xfrm>
            <a:off x="4773168" y="5422392"/>
            <a:ext cx="29169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60" dirty="0">
                <a:solidFill>
                  <a:srgbClr val="EDE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increases capped 2–9%, net of modeled volume loss</a:t>
            </a:r>
            <a:endParaRPr lang="en-US" sz="960" dirty="0"/>
          </a:p>
        </p:txBody>
      </p:sp>
      <p:sp>
        <p:nvSpPr>
          <p:cNvPr id="27" name="Shape 23"/>
          <p:cNvSpPr/>
          <p:nvPr/>
        </p:nvSpPr>
        <p:spPr>
          <a:xfrm>
            <a:off x="8165592" y="1828800"/>
            <a:ext cx="3611880" cy="4434840"/>
          </a:xfrm>
          <a:prstGeom prst="roundRect">
            <a:avLst>
              <a:gd name="adj" fmla="val 3038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8421624" y="2084832"/>
            <a:ext cx="502920" cy="502920"/>
          </a:xfrm>
          <a:prstGeom prst="ellipse">
            <a:avLst/>
          </a:prstGeom>
          <a:solidFill>
            <a:srgbClr val="4D148C"/>
          </a:solidFill>
          <a:ln/>
        </p:spPr>
      </p:sp>
      <p:pic>
        <p:nvPicPr>
          <p:cNvPr id="29" name="Image 2" descr="/home/claude/fedex_poc/icons/trend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2325" y="2205533"/>
            <a:ext cx="261518" cy="261518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8421624" y="2724912"/>
            <a:ext cx="3099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D14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FORECAST</a:t>
            </a:r>
            <a:endParaRPr lang="en-US" sz="1500" dirty="0"/>
          </a:p>
        </p:txBody>
      </p:sp>
      <p:sp>
        <p:nvSpPr>
          <p:cNvPr id="31" name="Text 26"/>
          <p:cNvSpPr/>
          <p:nvPr/>
        </p:nvSpPr>
        <p:spPr>
          <a:xfrm>
            <a:off x="8421624" y="3108960"/>
            <a:ext cx="3099816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60" dirty="0">
                <a:solidFill>
                  <a:srgbClr val="241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the leakage trend forward, and model the revenue-quality recovery curve as the fix ramps in over 6 months.</a:t>
            </a:r>
            <a:endParaRPr lang="en-US" sz="1060" dirty="0"/>
          </a:p>
        </p:txBody>
      </p:sp>
      <p:sp>
        <p:nvSpPr>
          <p:cNvPr id="32" name="Shape 27"/>
          <p:cNvSpPr/>
          <p:nvPr/>
        </p:nvSpPr>
        <p:spPr>
          <a:xfrm>
            <a:off x="8421624" y="4416552"/>
            <a:ext cx="64008" cy="64008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3" name="Text 28"/>
          <p:cNvSpPr/>
          <p:nvPr/>
        </p:nvSpPr>
        <p:spPr>
          <a:xfrm>
            <a:off x="8604504" y="4288536"/>
            <a:ext cx="29169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6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trend baseline vs. intervention scenario</a:t>
            </a:r>
            <a:endParaRPr lang="en-US" sz="960" dirty="0"/>
          </a:p>
        </p:txBody>
      </p:sp>
      <p:sp>
        <p:nvSpPr>
          <p:cNvPr id="34" name="Shape 29"/>
          <p:cNvSpPr/>
          <p:nvPr/>
        </p:nvSpPr>
        <p:spPr>
          <a:xfrm>
            <a:off x="8421624" y="4983480"/>
            <a:ext cx="64008" cy="64008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5" name="Text 30"/>
          <p:cNvSpPr/>
          <p:nvPr/>
        </p:nvSpPr>
        <p:spPr>
          <a:xfrm>
            <a:off x="8604504" y="4855464"/>
            <a:ext cx="29169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6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Ramped rollout curve (15% → 80% capture)</a:t>
            </a:r>
            <a:endParaRPr lang="en-US" sz="960" dirty="0"/>
          </a:p>
        </p:txBody>
      </p:sp>
      <p:sp>
        <p:nvSpPr>
          <p:cNvPr id="36" name="Shape 31"/>
          <p:cNvSpPr/>
          <p:nvPr/>
        </p:nvSpPr>
        <p:spPr>
          <a:xfrm>
            <a:off x="8421624" y="5550408"/>
            <a:ext cx="64008" cy="64008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7" name="Text 32"/>
          <p:cNvSpPr/>
          <p:nvPr/>
        </p:nvSpPr>
        <p:spPr>
          <a:xfrm>
            <a:off x="8604504" y="5422392"/>
            <a:ext cx="29169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6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an analyst worklist, not just a chart</a:t>
            </a:r>
            <a:endParaRPr lang="en-US" sz="960" dirty="0"/>
          </a:p>
        </p:txBody>
      </p:sp>
      <p:sp>
        <p:nvSpPr>
          <p:cNvPr id="38" name="Text 33"/>
          <p:cNvSpPr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Quality &amp; Leakage Recovery Engine — Proof of Concept</a:t>
            </a:r>
            <a:endParaRPr lang="en-US" sz="850" dirty="0"/>
          </a:p>
        </p:txBody>
      </p:sp>
      <p:sp>
        <p:nvSpPr>
          <p:cNvPr id="39" name="Text 34"/>
          <p:cNvSpPr/>
          <p:nvPr/>
        </p:nvSpPr>
        <p:spPr>
          <a:xfrm>
            <a:off x="11140135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BUSINESS CASE, PART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model finds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606040" cy="1234440"/>
          </a:xfrm>
          <a:prstGeom prst="roundRect">
            <a:avLst>
              <a:gd name="adj" fmla="val 8889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536192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D14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$72.1K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85800" y="202996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41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 identified in sample</a:t>
            </a:r>
            <a:endParaRPr lang="en-US" sz="980" dirty="0"/>
          </a:p>
        </p:txBody>
      </p:sp>
      <p:sp>
        <p:nvSpPr>
          <p:cNvPr id="7" name="Text 5"/>
          <p:cNvSpPr/>
          <p:nvPr/>
        </p:nvSpPr>
        <p:spPr>
          <a:xfrm>
            <a:off x="685800" y="233172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5.4% of sample revenue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3291840" y="1417320"/>
            <a:ext cx="2606040" cy="1234440"/>
          </a:xfrm>
          <a:prstGeom prst="roundRect">
            <a:avLst>
              <a:gd name="adj" fmla="val 8889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74720" y="1536192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D14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+46.2%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74720" y="202996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41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 $ / shipment since DIM rule change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3474720" y="233172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prior rounding rule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6080760" y="1417320"/>
            <a:ext cx="2606040" cy="1234440"/>
          </a:xfrm>
          <a:prstGeom prst="roundRect">
            <a:avLst>
              <a:gd name="adj" fmla="val 8889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63640" y="1536192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D14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135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263640" y="202996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41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Tier-1 “act now” accounts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6263640" y="233172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35.7% of total leakage $</a:t>
            </a:r>
            <a:endParaRPr lang="en-US" sz="860" dirty="0"/>
          </a:p>
        </p:txBody>
      </p:sp>
      <p:sp>
        <p:nvSpPr>
          <p:cNvPr id="16" name="Shape 14"/>
          <p:cNvSpPr/>
          <p:nvPr/>
        </p:nvSpPr>
        <p:spPr>
          <a:xfrm>
            <a:off x="8869680" y="1417320"/>
            <a:ext cx="2606040" cy="1234440"/>
          </a:xfrm>
          <a:prstGeom prst="roundRect">
            <a:avLst>
              <a:gd name="adj" fmla="val 8889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052560" y="1536192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D14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$69.6K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9052560" y="202996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41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Annualized recovery potential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9052560" y="233172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Levers A + B, sample scale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502920" y="2880360"/>
            <a:ext cx="11183112" cy="3429000"/>
          </a:xfrm>
          <a:prstGeom prst="roundRect">
            <a:avLst>
              <a:gd name="adj" fmla="val 3200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" y="30632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1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Monthly revenue leakage ($)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77240" y="33649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marker: Aug 18, 2025 DIM-rounding rule change</a:t>
            </a:r>
            <a:endParaRPr lang="en-US" sz="95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731520" y="3703320"/>
          <a:ext cx="1069848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Text 21"/>
          <p:cNvSpPr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Quality &amp; Leakage Recovery Engine — Proof of Concept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1140135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BUSINESS CASE, PART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it's concentrated, and who to act on first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394960" cy="4709160"/>
          </a:xfrm>
          <a:prstGeom prst="roundRect">
            <a:avLst>
              <a:gd name="adj" fmla="val 2330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6916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1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Leakage by product category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77240" y="199339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Concentrated in low-density goods — as a DIM-weight billing gap would predict.</a:t>
            </a:r>
            <a:endParaRPr lang="en-US" sz="93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85800" y="2423160"/>
          <a:ext cx="502920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217920" y="1508760"/>
            <a:ext cx="5394960" cy="4709160"/>
          </a:xfrm>
          <a:prstGeom prst="roundRect">
            <a:avLst>
              <a:gd name="adj" fmla="val 2330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92240" y="16916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1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Accounts by priority tier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492240" y="199339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risk score (margin gap + leakage share) — the top 15% of accounts carry 36% of the leakage.</a:t>
            </a:r>
            <a:endParaRPr lang="en-US" sz="930" dirty="0"/>
          </a:p>
        </p:txBody>
      </p:sp>
      <p:graphicFrame>
        <p:nvGraphicFramePr>
          <p:cNvPr id="11" name="Chart 1" descr=""/>
          <p:cNvGraphicFramePr/>
          <p:nvPr/>
        </p:nvGraphicFramePr>
        <p:xfrm>
          <a:off x="6400800" y="2606040"/>
          <a:ext cx="50292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Quality &amp; Leakage Recovery Engine — Proof of Concept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11140135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BUSINESS CASE, PART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output is a worklist, not just a chart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accounts by recommended recovery — this is what an analyst or account manager would actually work from.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83112" cy="3017520"/>
        </p:xfrm>
        <a:graphic>
          <a:graphicData uri="http://schemas.openxmlformats.org/drawingml/2006/table">
            <a:tbl>
              <a:tblPr/>
              <a:tblGrid>
                <a:gridCol w="1554480"/>
                <a:gridCol w="1554480"/>
                <a:gridCol w="2103120"/>
                <a:gridCol w="1554480"/>
                <a:gridCol w="1554480"/>
                <a:gridCol w="1463040"/>
                <a:gridCol w="1399032"/>
              </a:tblGrid>
              <a:tr h="4310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Leakage $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Sugg. Price 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 $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A100172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&amp; Bulky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A100620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Mid-Market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&amp; Bulky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B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A100469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&amp; Bulky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A100809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&amp; Bulky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B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A100802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Mid-Market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&amp; Bulky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$883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A100380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&amp; Bulky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18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5074920"/>
            <a:ext cx="11183112" cy="1005840"/>
          </a:xfrm>
          <a:prstGeom prst="roundRect">
            <a:avLst>
              <a:gd name="adj" fmla="val 10909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521208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row: 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41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A100172 (SME, Home &amp; Bulky) is under-billed by ~$1.0K in the sample window. A capped 2.7% price move — sized to this account's own price elasticity — plus the DIM billing correction recovers essentially all of it, net of modeled volume risk.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Quality &amp; Leakage Recovery Engine — Proof of Concept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140135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BUSINESS CASE, PART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6-month forecast: do nothing vs. recommended action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6949440" cy="4206240"/>
          </a:xfrm>
          <a:prstGeom prst="roundRect">
            <a:avLst>
              <a:gd name="adj" fmla="val 2609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731520" y="1783080"/>
          <a:ext cx="64922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80960" y="1508760"/>
            <a:ext cx="3977640" cy="4206240"/>
          </a:xfrm>
          <a:prstGeom prst="roundRect">
            <a:avLst>
              <a:gd name="adj" fmla="val 2759"/>
            </a:avLst>
          </a:prstGeom>
          <a:solidFill>
            <a:srgbClr val="4D148C"/>
          </a:solidFill>
          <a:ln w="12700">
            <a:solidFill>
              <a:srgbClr val="4D148C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55280" y="17373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$12.6K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955280" y="228600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recovery, 6 months (sample scale)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955280" y="2834640"/>
            <a:ext cx="3474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30" dirty="0">
                <a:solidFill>
                  <a:srgbClr val="EDE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FedEx's real shipment volumes — many millions of packages a day — this sample is a rounding error. That's the point: the POC's job is to prove the method (detect → target → forecast) on a small, transparent dataset, not to size FedEx's real opportunity.</a:t>
            </a:r>
            <a:endParaRPr lang="en-US" sz="1030" dirty="0"/>
          </a:p>
          <a:p>
            <a:pPr indent="0" marL="0">
              <a:lnSpc>
                <a:spcPts val="1500"/>
              </a:lnSpc>
              <a:buNone/>
            </a:pPr>
            <a:endParaRPr lang="en-US" sz="103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30" dirty="0">
                <a:solidFill>
                  <a:srgbClr val="EDE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next step is validating this pipeline on real shipment and billing data, where the same logic would surface the actual dollar opportunity.</a:t>
            </a:r>
            <a:endParaRPr lang="en-US" sz="1030" dirty="0"/>
          </a:p>
        </p:txBody>
      </p:sp>
      <p:sp>
        <p:nvSpPr>
          <p:cNvPr id="10" name="Text 7"/>
          <p:cNvSpPr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Quality &amp; Leakage Recovery Engine — Proof of Concept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1140135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POC TO PRODUCTION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realistic path onto real data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2624328" cy="4251960"/>
          </a:xfrm>
          <a:prstGeom prst="roundRect">
            <a:avLst>
              <a:gd name="adj" fmla="val 4181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0664" y="1938528"/>
            <a:ext cx="502920" cy="502920"/>
          </a:xfrm>
          <a:prstGeom prst="ellipse">
            <a:avLst/>
          </a:prstGeom>
          <a:solidFill>
            <a:srgbClr val="4D148C"/>
          </a:solidFill>
          <a:ln/>
        </p:spPr>
      </p:sp>
      <p:pic>
        <p:nvPicPr>
          <p:cNvPr id="6" name="Image 0" descr="/home/claude/fedex_poc/icons/fl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1365" y="2059229"/>
            <a:ext cx="261518" cy="2615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0664" y="2542032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Days 0–30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40664" y="2788920"/>
            <a:ext cx="21671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D14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740664" y="3246120"/>
            <a:ext cx="216712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1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synthetic data with a sampled extract of real shipment/billing records; recalibrate cost &amp; elasticity assumptions with Finance and Pricing.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108960" y="3566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4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28416" y="1691640"/>
            <a:ext cx="2624328" cy="4251960"/>
          </a:xfrm>
          <a:prstGeom prst="roundRect">
            <a:avLst>
              <a:gd name="adj" fmla="val 4181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66160" y="1938528"/>
            <a:ext cx="502920" cy="502920"/>
          </a:xfrm>
          <a:prstGeom prst="ellipse">
            <a:avLst/>
          </a:prstGeom>
          <a:solidFill>
            <a:srgbClr val="4D148C"/>
          </a:solidFill>
          <a:ln/>
        </p:spPr>
      </p:sp>
      <p:pic>
        <p:nvPicPr>
          <p:cNvPr id="13" name="Image 1" descr="/home/claude/fedex_poc/icons/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6861" y="2059229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66160" y="2542032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Days 30–90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3566160" y="2788920"/>
            <a:ext cx="21671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D14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Integrate</a:t>
            </a:r>
            <a:endParaRPr lang="en-US" sz="1650" dirty="0"/>
          </a:p>
        </p:txBody>
      </p:sp>
      <p:sp>
        <p:nvSpPr>
          <p:cNvPr id="16" name="Text 12"/>
          <p:cNvSpPr/>
          <p:nvPr/>
        </p:nvSpPr>
        <p:spPr>
          <a:xfrm>
            <a:off x="3566160" y="3246120"/>
            <a:ext cx="216712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1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the actual rating/billing systems (e.g., Teradata/Oracle); stand up account scorecards refreshed on a rolling basis, not quarterly.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5934456" y="3566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4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6153912" y="1691640"/>
            <a:ext cx="2624328" cy="4251960"/>
          </a:xfrm>
          <a:prstGeom prst="roundRect">
            <a:avLst>
              <a:gd name="adj" fmla="val 4181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91656" y="1938528"/>
            <a:ext cx="502920" cy="502920"/>
          </a:xfrm>
          <a:prstGeom prst="ellipse">
            <a:avLst/>
          </a:prstGeom>
          <a:solidFill>
            <a:srgbClr val="4D148C"/>
          </a:solidFill>
          <a:ln/>
        </p:spPr>
      </p:sp>
      <p:pic>
        <p:nvPicPr>
          <p:cNvPr id="20" name="Image 2" descr="/home/claude/fedex_poc/icons/slid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2357" y="2059229"/>
            <a:ext cx="261518" cy="26151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391656" y="2542032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Days 90–180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6391656" y="2788920"/>
            <a:ext cx="21671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D14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</a:t>
            </a:r>
            <a:endParaRPr lang="en-US" sz="1650" dirty="0"/>
          </a:p>
        </p:txBody>
      </p:sp>
      <p:sp>
        <p:nvSpPr>
          <p:cNvPr id="23" name="Text 18"/>
          <p:cNvSpPr/>
          <p:nvPr/>
        </p:nvSpPr>
        <p:spPr>
          <a:xfrm>
            <a:off x="6391656" y="3246120"/>
            <a:ext cx="216712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1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Lever A (billing correction) end-to-end; pilot Lever B (targeted repricing) with a Sales-approved account cohort, tracking churn vs. forecast.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8759952" y="3566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4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0"/>
          <p:cNvSpPr/>
          <p:nvPr/>
        </p:nvSpPr>
        <p:spPr>
          <a:xfrm>
            <a:off x="8979408" y="1691640"/>
            <a:ext cx="2624328" cy="4251960"/>
          </a:xfrm>
          <a:prstGeom prst="roundRect">
            <a:avLst>
              <a:gd name="adj" fmla="val 4181"/>
            </a:avLst>
          </a:prstGeom>
          <a:solidFill>
            <a:srgbClr val="F6F3FB"/>
          </a:solidFill>
          <a:ln w="12700">
            <a:solidFill>
              <a:srgbClr val="E4DC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030">
                <a:alpha val="8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9217152" y="1938528"/>
            <a:ext cx="502920" cy="502920"/>
          </a:xfrm>
          <a:prstGeom prst="ellipse">
            <a:avLst/>
          </a:prstGeom>
          <a:solidFill>
            <a:srgbClr val="4D148C"/>
          </a:solidFill>
          <a:ln/>
        </p:spPr>
      </p:sp>
      <p:pic>
        <p:nvPicPr>
          <p:cNvPr id="27" name="Image 3" descr="/home/claude/fedex_poc/icons/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2059229"/>
            <a:ext cx="261518" cy="26151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217152" y="2542032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Ongoing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9217152" y="2788920"/>
            <a:ext cx="21671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D14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</a:t>
            </a:r>
            <a:endParaRPr lang="en-US" sz="1650" dirty="0"/>
          </a:p>
        </p:txBody>
      </p:sp>
      <p:sp>
        <p:nvSpPr>
          <p:cNvPr id="30" name="Text 24"/>
          <p:cNvSpPr/>
          <p:nvPr/>
        </p:nvSpPr>
        <p:spPr>
          <a:xfrm>
            <a:off x="9217152" y="3246120"/>
            <a:ext cx="216712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1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additional segments/products; document the method fully so it can be run and extended by others, not just re-run as a one-off.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Quality &amp; Leakage Recovery Engine — Proof of Concept</a:t>
            </a:r>
            <a:endParaRPr lang="en-US" sz="850" dirty="0"/>
          </a:p>
        </p:txBody>
      </p:sp>
      <p:sp>
        <p:nvSpPr>
          <p:cNvPr id="32" name="Text 26"/>
          <p:cNvSpPr/>
          <p:nvPr/>
        </p:nvSpPr>
        <p:spPr>
          <a:xfrm>
            <a:off x="11140135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55064"/>
            <a:ext cx="457200" cy="457200"/>
          </a:xfrm>
          <a:prstGeom prst="ellipse">
            <a:avLst/>
          </a:prstGeom>
          <a:solidFill>
            <a:srgbClr val="4D148C"/>
          </a:solidFill>
          <a:ln/>
        </p:spPr>
      </p:sp>
      <p:pic>
        <p:nvPicPr>
          <p:cNvPr id="5" name="Image 0" descr="/home/claude/fedex_poc/icons/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764792"/>
            <a:ext cx="237744" cy="2377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581912"/>
            <a:ext cx="42976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80" b="1" dirty="0">
                <a:solidFill>
                  <a:srgbClr val="4D14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is structural, not seasonal</a:t>
            </a:r>
            <a:endParaRPr lang="en-US" sz="1180" dirty="0"/>
          </a:p>
        </p:txBody>
      </p:sp>
      <p:sp>
        <p:nvSpPr>
          <p:cNvPr id="7" name="Shape 4"/>
          <p:cNvSpPr/>
          <p:nvPr/>
        </p:nvSpPr>
        <p:spPr>
          <a:xfrm>
            <a:off x="5669280" y="1655064"/>
            <a:ext cx="0" cy="640080"/>
          </a:xfrm>
          <a:prstGeom prst="line">
            <a:avLst/>
          </a:prstGeom>
          <a:noFill/>
          <a:ln w="12700">
            <a:solidFill>
              <a:srgbClr val="E4DC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97880" y="1581912"/>
            <a:ext cx="5577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1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rate cards and periodic reviews can't track fast-moving package-density mix, so low-density shipments are billed below true cost-to-serve — and it compounds every rate change.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02920" y="2496312"/>
            <a:ext cx="457200" cy="457200"/>
          </a:xfrm>
          <a:prstGeom prst="ellipse">
            <a:avLst/>
          </a:prstGeom>
          <a:solidFill>
            <a:srgbClr val="4D148C"/>
          </a:solidFill>
          <a:ln/>
        </p:spPr>
      </p:sp>
      <p:pic>
        <p:nvPicPr>
          <p:cNvPr id="10" name="Image 1" descr="/home/claude/fedex_poc/icons/bar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260604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88720" y="2423160"/>
            <a:ext cx="42976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80" b="1" dirty="0">
                <a:solidFill>
                  <a:srgbClr val="4D14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method: Detect → Target → Forecast</a:t>
            </a:r>
            <a:endParaRPr lang="en-US" sz="1180" dirty="0"/>
          </a:p>
        </p:txBody>
      </p:sp>
      <p:sp>
        <p:nvSpPr>
          <p:cNvPr id="12" name="Shape 8"/>
          <p:cNvSpPr/>
          <p:nvPr/>
        </p:nvSpPr>
        <p:spPr>
          <a:xfrm>
            <a:off x="5669280" y="2496312"/>
            <a:ext cx="0" cy="640080"/>
          </a:xfrm>
          <a:prstGeom prst="line">
            <a:avLst/>
          </a:prstGeom>
          <a:noFill/>
          <a:ln w="12700">
            <a:solidFill>
              <a:srgbClr val="E4DC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897880" y="2423160"/>
            <a:ext cx="5577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1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Python pipeline (pandas, scikit-learn) — shipment-level leakage detection, composite account risk scoring, and a fitted trend forecast with a modeled intervention ramp.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4D148C"/>
          </a:solidFill>
          <a:ln/>
        </p:spPr>
      </p:sp>
      <p:pic>
        <p:nvPicPr>
          <p:cNvPr id="15" name="Image 2" descr="/home/claude/fedex_poc/icons/targ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344728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188720" y="3264408"/>
            <a:ext cx="42976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80" b="1" dirty="0">
                <a:solidFill>
                  <a:srgbClr val="4D14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output is a worklist, not just a chart</a:t>
            </a:r>
            <a:endParaRPr lang="en-US" sz="1180" dirty="0"/>
          </a:p>
        </p:txBody>
      </p:sp>
      <p:sp>
        <p:nvSpPr>
          <p:cNvPr id="17" name="Shape 12"/>
          <p:cNvSpPr/>
          <p:nvPr/>
        </p:nvSpPr>
        <p:spPr>
          <a:xfrm>
            <a:off x="5669280" y="3337560"/>
            <a:ext cx="0" cy="640080"/>
          </a:xfrm>
          <a:prstGeom prst="line">
            <a:avLst/>
          </a:prstGeom>
          <a:noFill/>
          <a:ln w="12700">
            <a:solidFill>
              <a:srgbClr val="E4DCF2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897880" y="3264408"/>
            <a:ext cx="5577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1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ranked, account-level list with two concrete levers and a capped, elasticity-aware price recommendation per account — something a team can act on directly.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02920" y="4178808"/>
            <a:ext cx="457200" cy="457200"/>
          </a:xfrm>
          <a:prstGeom prst="ellipse">
            <a:avLst/>
          </a:prstGeom>
          <a:solidFill>
            <a:srgbClr val="4D148C"/>
          </a:solidFill>
          <a:ln/>
        </p:spPr>
      </p:sp>
      <p:pic>
        <p:nvPicPr>
          <p:cNvPr id="20" name="Image 3" descr="/home/claude/fedex_poc/icons/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4288536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188720" y="4105656"/>
            <a:ext cx="42976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80" b="1" dirty="0">
                <a:solidFill>
                  <a:srgbClr val="4D14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built to be cross-functional</a:t>
            </a:r>
            <a:endParaRPr lang="en-US" sz="1180" dirty="0"/>
          </a:p>
        </p:txBody>
      </p:sp>
      <p:sp>
        <p:nvSpPr>
          <p:cNvPr id="22" name="Shape 16"/>
          <p:cNvSpPr/>
          <p:nvPr/>
        </p:nvSpPr>
        <p:spPr>
          <a:xfrm>
            <a:off x="5669280" y="4178808"/>
            <a:ext cx="0" cy="640080"/>
          </a:xfrm>
          <a:prstGeom prst="line">
            <a:avLst/>
          </a:prstGeom>
          <a:noFill/>
          <a:ln w="12700">
            <a:solidFill>
              <a:srgbClr val="E4DC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897880" y="4105656"/>
            <a:ext cx="5577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1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fishbone analysis spans people, process, technology, policy, and market causes — the fix touches Pricing, Sales, Finance, and Ops together, not one team alone.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02920" y="5020056"/>
            <a:ext cx="457200" cy="457200"/>
          </a:xfrm>
          <a:prstGeom prst="ellipse">
            <a:avLst/>
          </a:prstGeom>
          <a:solidFill>
            <a:srgbClr val="4D148C"/>
          </a:solidFill>
          <a:ln/>
        </p:spPr>
      </p:sp>
      <p:pic>
        <p:nvPicPr>
          <p:cNvPr id="25" name="Image 4" descr="/home/claude/fedex_poc/icons/ma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" y="5129784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188720" y="4946904"/>
            <a:ext cx="42976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80" b="1" dirty="0">
                <a:solidFill>
                  <a:srgbClr val="4D14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next step is validation on real data</a:t>
            </a:r>
            <a:endParaRPr lang="en-US" sz="1180" dirty="0"/>
          </a:p>
        </p:txBody>
      </p:sp>
      <p:sp>
        <p:nvSpPr>
          <p:cNvPr id="27" name="Shape 20"/>
          <p:cNvSpPr/>
          <p:nvPr/>
        </p:nvSpPr>
        <p:spPr>
          <a:xfrm>
            <a:off x="5669280" y="5020056"/>
            <a:ext cx="0" cy="640080"/>
          </a:xfrm>
          <a:prstGeom prst="line">
            <a:avLst/>
          </a:prstGeom>
          <a:noFill/>
          <a:ln w="12700">
            <a:solidFill>
              <a:srgbClr val="E4DCF2"/>
            </a:solidFill>
            <a:prstDash val="solid"/>
          </a:ln>
        </p:spPr>
      </p:sp>
      <p:sp>
        <p:nvSpPr>
          <p:cNvPr id="28" name="Text 21"/>
          <p:cNvSpPr/>
          <p:nvPr/>
        </p:nvSpPr>
        <p:spPr>
          <a:xfrm>
            <a:off x="5897880" y="4946904"/>
            <a:ext cx="5577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1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POC's job is to prove the method on a small, transparent dataset. The path to real impact is a phased rollout — validate, integrate, pilot, scale.</a:t>
            </a:r>
            <a:endParaRPr lang="en-US" sz="1050" dirty="0"/>
          </a:p>
        </p:txBody>
      </p:sp>
      <p:sp>
        <p:nvSpPr>
          <p:cNvPr id="29" name="Text 22"/>
          <p:cNvSpPr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Quality &amp; Leakage Recovery Engine — Proof of Concept</a:t>
            </a:r>
            <a:endParaRPr lang="en-US" sz="850" dirty="0"/>
          </a:p>
        </p:txBody>
      </p:sp>
      <p:sp>
        <p:nvSpPr>
          <p:cNvPr id="30" name="Text 23"/>
          <p:cNvSpPr/>
          <p:nvPr/>
        </p:nvSpPr>
        <p:spPr>
          <a:xfrm>
            <a:off x="11140135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0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4206240"/>
            <a:ext cx="5943600" cy="5943600"/>
          </a:xfrm>
          <a:prstGeom prst="ellipse">
            <a:avLst/>
          </a:prstGeom>
          <a:solidFill>
            <a:srgbClr val="2E0C5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9D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POC is a starting point, not a finished product — the real opportunity is validating this method on actual shipment and billing data, working alongside Pricing, Sales, and Finance.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8680" y="4251960"/>
            <a:ext cx="384048" cy="384048"/>
          </a:xfrm>
          <a:prstGeom prst="ellipse">
            <a:avLst/>
          </a:prstGeom>
          <a:solidFill>
            <a:srgbClr val="4D148C"/>
          </a:solidFill>
          <a:ln/>
        </p:spPr>
      </p:sp>
      <p:pic>
        <p:nvPicPr>
          <p:cNvPr id="6" name="Image 0" descr="/home/claude/fedex_poc/icons/m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852" y="4344132"/>
            <a:ext cx="199705" cy="19970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426110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mahnakritika3@gmail.com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68680" y="484632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AF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working code, synthetic dataset, and an interactive dashboard are included as supporting attachments.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Quality &amp; Leakage Recovery Engine — Proof of Concept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1140135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2026-08-13T06:38:49Z</dcterms:created>
  <dcterms:modified xsi:type="dcterms:W3CDTF">2026-08-13T06:38:49Z</dcterms:modified>
</cp:coreProperties>
</file>