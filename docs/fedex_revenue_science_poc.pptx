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Leakage $</c:v>
                </c:pt>
              </c:strCache>
            </c:strRef>
          </c:tx>
          <c:spPr>
            <a:solidFill>
              <a:srgbClr val="4D148C"/>
            </a:solidFill>
            <a:ln w="31750" cap="flat">
              <a:solidFill>
                <a:srgbClr val="4D14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D148C"/>
              </a:solidFill>
              <a:ln w="9525" cap="flat">
                <a:solidFill>
                  <a:srgbClr val="4D14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May25</c:v>
                  </c:pt>
                  <c:pt idx="1">
                    <c:v>Jun25</c:v>
                  </c:pt>
                  <c:pt idx="2">
                    <c:v>Jul25</c:v>
                  </c:pt>
                  <c:pt idx="3">
                    <c:v>Aug25</c:v>
                  </c:pt>
                  <c:pt idx="4">
                    <c:v>Sep25</c:v>
                  </c:pt>
                  <c:pt idx="5">
                    <c:v>Oct25</c:v>
                  </c:pt>
                  <c:pt idx="6">
                    <c:v>Nov25</c:v>
                  </c:pt>
                  <c:pt idx="7">
                    <c:v>Dec25</c:v>
                  </c:pt>
                  <c:pt idx="8">
                    <c:v>Jan26</c:v>
                  </c:pt>
                  <c:pt idx="9">
                    <c:v>Feb26</c:v>
                  </c:pt>
                  <c:pt idx="10">
                    <c:v>Mar26</c:v>
                  </c:pt>
                  <c:pt idx="11">
                    <c:v>Apr26</c:v>
                  </c:pt>
                  <c:pt idx="12">
                    <c:v>May26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4092</c:v>
                </c:pt>
                <c:pt idx="1">
                  <c:v>3835</c:v>
                </c:pt>
                <c:pt idx="2">
                  <c:v>4935</c:v>
                </c:pt>
                <c:pt idx="3">
                  <c:v>5071</c:v>
                </c:pt>
                <c:pt idx="4">
                  <c:v>5914</c:v>
                </c:pt>
                <c:pt idx="5">
                  <c:v>6249</c:v>
                </c:pt>
                <c:pt idx="6">
                  <c:v>6699</c:v>
                </c:pt>
                <c:pt idx="7">
                  <c:v>6119</c:v>
                </c:pt>
                <c:pt idx="8">
                  <c:v>6855</c:v>
                </c:pt>
                <c:pt idx="9">
                  <c:v>5036</c:v>
                </c:pt>
                <c:pt idx="10">
                  <c:v>6440</c:v>
                </c:pt>
                <c:pt idx="11">
                  <c:v>5875</c:v>
                </c:pt>
                <c:pt idx="12">
                  <c:v>5011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DCF2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6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AF5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Leakage $</c:v>
                </c:pt>
              </c:strCache>
            </c:strRef>
          </c:tx>
          <c:spPr>
            <a:solidFill>
              <a:srgbClr val="4D148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418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Home &amp; Bulky</c:v>
                  </c:pt>
                  <c:pt idx="1">
                    <c:v>Apparel/Soft Goods</c:v>
                  </c:pt>
                  <c:pt idx="2">
                    <c:v>Electronics</c:v>
                  </c:pt>
                  <c:pt idx="3">
                    <c:v>Health/Beauty</c:v>
                  </c:pt>
                  <c:pt idx="4">
                    <c:v>Industrial/B2B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54652</c:v>
                </c:pt>
                <c:pt idx="1">
                  <c:v>13340</c:v>
                </c:pt>
                <c:pt idx="2">
                  <c:v>2071</c:v>
                </c:pt>
                <c:pt idx="3">
                  <c:v>1546</c:v>
                </c:pt>
                <c:pt idx="4">
                  <c:v>522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850" u="none">
                  <a:solidFill>
                    <a:srgbClr val="2418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80" b="0" i="0" u="none" strike="noStrike">
                <a:solidFill>
                  <a:srgbClr val="6B6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AF5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Leakage $</c:v>
                </c:pt>
              </c:strCache>
            </c:strRef>
          </c:tx>
          <c:spPr>
            <a:solidFill>
              <a:srgbClr val="FF660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18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Tier 1 — Act Now</c:v>
                  </c:pt>
                  <c:pt idx="1">
                    <c:v>Tier 2 — Monitor</c:v>
                  </c:pt>
                  <c:pt idx="2">
                    <c:v>Tier 3 — Healthy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25753</c:v>
                </c:pt>
                <c:pt idx="1">
                  <c:v>25830</c:v>
                </c:pt>
                <c:pt idx="2">
                  <c:v>20548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2418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AF5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41830"/>
                </a:solidFill>
                <a:latin typeface="Arial"/>
              </a:defRPr>
            </a:pPr>
            <a:r>
              <a:rPr sz="1250" b="0" i="0" u="none" strike="noStrike">
                <a:solidFill>
                  <a:srgbClr val="241830"/>
                </a:solidFill>
                <a:latin typeface="Arial"/>
              </a:rPr>
              <a:t>Projected monthly leakage ($)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(no action)</c:v>
                </c:pt>
              </c:strCache>
            </c:strRef>
          </c:tx>
          <c:spPr>
            <a:solidFill>
              <a:srgbClr val="6B6577"/>
            </a:solidFill>
            <a:ln w="31750" cap="flat">
              <a:solidFill>
                <a:srgbClr val="6B6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6B6577"/>
              </a:solidFill>
              <a:ln w="9525" cap="flat">
                <a:solidFill>
                  <a:srgbClr val="6B6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Jun26</c:v>
                  </c:pt>
                  <c:pt idx="1">
                    <c:v>Jul26</c:v>
                  </c:pt>
                  <c:pt idx="2">
                    <c:v>Aug26</c:v>
                  </c:pt>
                  <c:pt idx="3">
                    <c:v>Sep26</c:v>
                  </c:pt>
                  <c:pt idx="4">
                    <c:v>Oct26</c:v>
                  </c:pt>
                  <c:pt idx="5">
                    <c:v>Nov26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6448</c:v>
                </c:pt>
                <c:pt idx="1">
                  <c:v>6576</c:v>
                </c:pt>
                <c:pt idx="2">
                  <c:v>6705</c:v>
                </c:pt>
                <c:pt idx="3">
                  <c:v>6833</c:v>
                </c:pt>
                <c:pt idx="4">
                  <c:v>6962</c:v>
                </c:pt>
                <c:pt idx="5">
                  <c:v>7090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intervention</c:v>
                </c:pt>
              </c:strCache>
            </c:strRef>
          </c:tx>
          <c:spPr>
            <a:solidFill>
              <a:srgbClr val="FF6600"/>
            </a:solidFill>
            <a:ln w="31750" cap="flat">
              <a:solidFill>
                <a:srgbClr val="FF66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Jun26</c:v>
                  </c:pt>
                  <c:pt idx="1">
                    <c:v>Jul26</c:v>
                  </c:pt>
                  <c:pt idx="2">
                    <c:v>Aug26</c:v>
                  </c:pt>
                  <c:pt idx="3">
                    <c:v>Sep26</c:v>
                  </c:pt>
                  <c:pt idx="4">
                    <c:v>Oct26</c:v>
                  </c:pt>
                  <c:pt idx="5">
                    <c:v>Nov26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5916</c:v>
                </c:pt>
                <c:pt idx="1">
                  <c:v>5310</c:v>
                </c:pt>
                <c:pt idx="2">
                  <c:v>4677</c:v>
                </c:pt>
                <c:pt idx="3">
                  <c:v>4202</c:v>
                </c:pt>
                <c:pt idx="4">
                  <c:v>3975</c:v>
                </c:pt>
                <c:pt idx="5">
                  <c:v>3971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AF5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418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2E0C5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4D148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SCIENCE — PROOF OF CONCEPT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Quality &amp; Leakage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Engine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revenue leakage, prioritizing which accounts to act on, and forecasting the recovery — an end-to-end analytical approach to revenue quality.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166360"/>
            <a:ext cx="201168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</a:t>
            </a:r>
            <a:pPr indent="0" marL="0">
              <a:buNone/>
            </a:pPr>
            <a:r>
              <a:rPr lang="en-US" sz="1250" dirty="0">
                <a:solidFill>
                  <a:srgbClr val="AF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mahnakritika3@gmail.com   ·   August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business signal to a working POC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56232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6" name="Image 0" descr="/home/claude/fedex_poc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976933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01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The opportunity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17320" y="216712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revenue quality in low-density, e-commerce-driven shipments is a live, urgent problem — grounded in public earnings calls and industry signals.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856232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11" name="Image 1" descr="/home/claude/fedex_poc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197693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01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Root-cause analysis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086600" y="216712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 framing, a 5-Whys chain, and a fishbone diagram tracing the leakage back to its structural causes.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02920" y="3136392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" y="3392424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16" name="Image 2" descr="/home/claude/fedex_poc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3513125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37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The POC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417320" y="37033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Python pipeline — Detect → Target → Forecast — built on an illustrative, publicly-grounded synthetic dataset.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72200" y="3136392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392424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21" name="Image 3" descr="/home/claude/fedex_poc/icons/bar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3513125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337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Results &amp; business case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086600" y="37033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finds, who it flags, and what recovery looks like over the next two quarters.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02920" y="4672584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58952" y="4928616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26" name="Image 4" descr="/home/claude/fedex_poc/icons/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3" y="5049317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8737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From POC to production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417320" y="523951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4-phase path to putting this on real shipment and billing data.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6172200" y="4672584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28232" y="4928616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31" name="Image 5" descr="/home/claude/fedex_poc/icons/aw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933" y="5049317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48737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Key takeaways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7086600" y="523951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the problem, the approach, and the recommended path forward.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&amp; Leakage Recovery Engine — Proof of Concept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signal: what's happening in FedEx's business right 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public data points point at the same underlying problem — revenue quality in low-density, e-commerce-driven shipments.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066544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7" name="Image 0" descr="/home/claude/fedex_poc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2187245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116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DIM-weight rules tightened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2395728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18, 2025: FedEx began rounding every fractional inch UP on all three dimensions — a direct lever to capture more revenue from light, bulky e-commerce packages.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" y="34472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trade press (ShipperHQ, PARCEL Industry, 3PL Center)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6172200" y="18288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066544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13" name="Image 1" descr="/home/claude/fedex_poc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2187245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20116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Competitors moved in lockstep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086600" y="2395728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rolled out a nearly identical dimensional-rounding change around the same time — this is an industry-wide revenue-quality tactic, not a FedEx-only move.</a:t>
            </a:r>
            <a:endParaRPr lang="en-US" sz="1030" dirty="0"/>
          </a:p>
        </p:txBody>
      </p:sp>
      <p:sp>
        <p:nvSpPr>
          <p:cNvPr id="16" name="Text 12"/>
          <p:cNvSpPr/>
          <p:nvPr/>
        </p:nvSpPr>
        <p:spPr>
          <a:xfrm>
            <a:off x="6428232" y="34472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trade press (ShipperHQ, PARCEL Industry, 3PL Center)</a:t>
            </a:r>
            <a:endParaRPr lang="en-US" sz="860" dirty="0"/>
          </a:p>
        </p:txBody>
      </p:sp>
      <p:sp>
        <p:nvSpPr>
          <p:cNvPr id="17" name="Shape 13"/>
          <p:cNvSpPr/>
          <p:nvPr/>
        </p:nvSpPr>
        <p:spPr>
          <a:xfrm>
            <a:off x="502920" y="3995928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58952" y="4233672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19" name="Image 2" descr="/home/claude/fedex_poc/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4354373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178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“Revenue quality” is the watchword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17320" y="4562856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FY26 package yield was reported up 11% year over year, with company commentary attributing the large majority of that gain to base price increases rather than fuel or volume.</a:t>
            </a:r>
            <a:endParaRPr lang="en-US" sz="1030" dirty="0"/>
          </a:p>
        </p:txBody>
      </p:sp>
      <p:sp>
        <p:nvSpPr>
          <p:cNvPr id="22" name="Text 17"/>
          <p:cNvSpPr/>
          <p:nvPr/>
        </p:nvSpPr>
        <p:spPr>
          <a:xfrm>
            <a:off x="758952" y="561441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Q4 FY26 earnings coverage (multiple financial outlets)</a:t>
            </a:r>
            <a:endParaRPr lang="en-US" sz="860" dirty="0"/>
          </a:p>
        </p:txBody>
      </p:sp>
      <p:sp>
        <p:nvSpPr>
          <p:cNvPr id="23" name="Shape 18"/>
          <p:cNvSpPr/>
          <p:nvPr/>
        </p:nvSpPr>
        <p:spPr>
          <a:xfrm>
            <a:off x="6172200" y="3995928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28232" y="4233672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25" name="Image 3" descr="/home/claude/fedex_poc/icons/pack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4354373"/>
            <a:ext cx="261518" cy="26151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86600" y="4178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Economy volume declining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086600" y="4562856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Economy volume was reported down roughly 5% in the quarter, described as a deliberate trade of low-margin volume for margin quality.</a:t>
            </a:r>
            <a:endParaRPr lang="en-US" sz="1030" dirty="0"/>
          </a:p>
        </p:txBody>
      </p:sp>
      <p:sp>
        <p:nvSpPr>
          <p:cNvPr id="28" name="Text 22"/>
          <p:cNvSpPr/>
          <p:nvPr/>
        </p:nvSpPr>
        <p:spPr>
          <a:xfrm>
            <a:off x="6428232" y="561441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Q4 FY26 earnings coverage (multiple financial outlets)</a:t>
            </a:r>
            <a:endParaRPr lang="en-US" sz="860" dirty="0"/>
          </a:p>
        </p:txBody>
      </p:sp>
      <p:sp>
        <p:nvSpPr>
          <p:cNvPr id="29" name="Text 2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&amp; Leakage Recovery Engine — Proof of Concept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ANALYSIS,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the problem: the 5W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029968" cy="4297680"/>
          </a:xfrm>
          <a:prstGeom prst="roundRect">
            <a:avLst>
              <a:gd name="adj" fmla="val 5405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892808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7512" y="2404872"/>
            <a:ext cx="170078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&amp; yield erosion: shipments — especially low-density, “light &amp; bulky” e-commerce packages — are billed below true cost-to-serve and target margin.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679192" y="1691640"/>
            <a:ext cx="2029968" cy="4297680"/>
          </a:xfrm>
          <a:prstGeom prst="roundRect">
            <a:avLst>
              <a:gd name="adj" fmla="val 5405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43784" y="1892808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43784" y="2404872"/>
            <a:ext cx="170078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Science, Pricing, and Sales teams own the fix; Finance feels the margin impact; SME and e-commerce accounts are most exposed.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855464" y="1691640"/>
            <a:ext cx="2029968" cy="4297680"/>
          </a:xfrm>
          <a:prstGeom prst="roundRect">
            <a:avLst>
              <a:gd name="adj" fmla="val 5405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0056" y="1892808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0056" y="2404872"/>
            <a:ext cx="170078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structural, ongoing issue — acute since the e-commerce boom, now urgent given the Aug 2025 DIM rule change and the CY2026 Ground Economy volume decline.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031736" y="1691640"/>
            <a:ext cx="2029968" cy="4297680"/>
          </a:xfrm>
          <a:prstGeom prst="roundRect">
            <a:avLst>
              <a:gd name="adj" fmla="val 5405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96328" y="1892808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96328" y="2404872"/>
            <a:ext cx="170078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in the FedEx Ground / Ground Economy network, in low-density product categories (apparel, home goods) and SME/e-commerce accounts.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208008" y="1691640"/>
            <a:ext cx="2029968" cy="4297680"/>
          </a:xfrm>
          <a:prstGeom prst="roundRect">
            <a:avLst>
              <a:gd name="adj" fmla="val 5405"/>
            </a:avLst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72600" y="1892808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72600" y="2404872"/>
            <a:ext cx="170078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rate cards and periodic reviews can't track fast-moving package-density mix — so pricing lags reality instead of correcting it continuously.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&amp; Leakage Recovery Engine — Proof of Concept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ANALYSIS,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Whys: tracing leakage to its root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55064"/>
            <a:ext cx="457200" cy="45720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5" name="Image 0" descr="/home/claude/fedex_poc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64792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61288" y="1600200"/>
            <a:ext cx="10058400" cy="768096"/>
          </a:xfrm>
          <a:prstGeom prst="roundRect">
            <a:avLst>
              <a:gd name="adj" fmla="val 14286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371600" y="166420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1:  </a:t>
            </a:r>
            <a:pPr indent="0" marL="0">
              <a:buNone/>
            </a:pPr>
            <a:r>
              <a:rPr lang="en-US" sz="1130" b="1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revenue quality eroding in e-commerce / Ground Economy?</a:t>
            </a:r>
            <a:endParaRPr lang="en-US" sz="1130" dirty="0"/>
          </a:p>
        </p:txBody>
      </p:sp>
      <p:sp>
        <p:nvSpPr>
          <p:cNvPr id="8" name="Text 5"/>
          <p:cNvSpPr/>
          <p:nvPr/>
        </p:nvSpPr>
        <p:spPr>
          <a:xfrm>
            <a:off x="1371600" y="19659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many shipments are billed below their true, correctly-measured cost-to-serve.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502920" y="2551176"/>
            <a:ext cx="457200" cy="45720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10" name="Image 1" descr="/home/claude/fedex_poc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660904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61288" y="2496312"/>
            <a:ext cx="10058400" cy="768096"/>
          </a:xfrm>
          <a:prstGeom prst="roundRect">
            <a:avLst>
              <a:gd name="adj" fmla="val 14286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371600" y="256032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2:  </a:t>
            </a:r>
            <a:pPr indent="0" marL="0">
              <a:buNone/>
            </a:pPr>
            <a:r>
              <a:rPr lang="en-US" sz="1130" b="1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they billed below true cost?</a:t>
            </a:r>
            <a:endParaRPr lang="en-US" sz="1130" dirty="0"/>
          </a:p>
        </p:txBody>
      </p:sp>
      <p:sp>
        <p:nvSpPr>
          <p:cNvPr id="13" name="Text 9"/>
          <p:cNvSpPr/>
          <p:nvPr/>
        </p:nvSpPr>
        <p:spPr>
          <a:xfrm>
            <a:off x="1371600" y="2862072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billable weight is set by static, negotiated rate terms — not continuously reconciled against actual package density.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502920" y="3447288"/>
            <a:ext cx="457200" cy="45720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15" name="Image 2" descr="/home/claude/fedex_poc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557016"/>
            <a:ext cx="237744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161288" y="3392424"/>
            <a:ext cx="10058400" cy="768096"/>
          </a:xfrm>
          <a:prstGeom prst="roundRect">
            <a:avLst>
              <a:gd name="adj" fmla="val 14286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1371600" y="345643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3:  </a:t>
            </a:r>
            <a:pPr indent="0" marL="0">
              <a:buNone/>
            </a:pPr>
            <a:r>
              <a:rPr lang="en-US" sz="1130" b="1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aren't rates reconciled continuously?</a:t>
            </a:r>
            <a:endParaRPr lang="en-US" sz="1130" dirty="0"/>
          </a:p>
        </p:txBody>
      </p:sp>
      <p:sp>
        <p:nvSpPr>
          <p:cNvPr id="18" name="Text 13"/>
          <p:cNvSpPr/>
          <p:nvPr/>
        </p:nvSpPr>
        <p:spPr>
          <a:xfrm>
            <a:off x="1371600" y="3758184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there's no scalable analytics process that monitors account-level density and margin drift and triggers action.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02920" y="4343400"/>
            <a:ext cx="457200" cy="45720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20" name="Image 3" descr="/home/claude/fedex_poc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4453128"/>
            <a:ext cx="237744" cy="23774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161288" y="4288536"/>
            <a:ext cx="10058400" cy="768096"/>
          </a:xfrm>
          <a:prstGeom prst="roundRect">
            <a:avLst>
              <a:gd name="adj" fmla="val 14286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1371600" y="435254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4:  </a:t>
            </a:r>
            <a:pPr indent="0" marL="0">
              <a:buNone/>
            </a:pPr>
            <a:r>
              <a:rPr lang="en-US" sz="1130" b="1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there no such process?</a:t>
            </a:r>
            <a:endParaRPr lang="en-US" sz="1130" dirty="0"/>
          </a:p>
        </p:txBody>
      </p:sp>
      <p:sp>
        <p:nvSpPr>
          <p:cNvPr id="23" name="Text 17"/>
          <p:cNvSpPr/>
          <p:nvPr/>
        </p:nvSpPr>
        <p:spPr>
          <a:xfrm>
            <a:off x="1371600" y="4654296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pricing analytics today is largely retrospective — quarterly GRIs and periodic contract reviews — not a standing statistical monitoring system.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502920" y="5239512"/>
            <a:ext cx="457200" cy="457200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25" name="Image 4" descr="/home/claude/fedex_poc/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5349240"/>
            <a:ext cx="237744" cy="237744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161288" y="5184648"/>
            <a:ext cx="10058400" cy="768096"/>
          </a:xfrm>
          <a:prstGeom prst="roundRect">
            <a:avLst>
              <a:gd name="adj" fmla="val 14286"/>
            </a:avLst>
          </a:prstGeom>
          <a:solidFill>
            <a:srgbClr val="FFF1E6"/>
          </a:solidFill>
          <a:ln w="12700">
            <a:solidFill>
              <a:srgbClr val="FFD9B8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1371600" y="524865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5:  </a:t>
            </a:r>
            <a:pPr indent="0" marL="0">
              <a:buNone/>
            </a:pPr>
            <a:r>
              <a:rPr lang="en-US" sz="1130" b="1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retrospective, not continuous?</a:t>
            </a:r>
            <a:endParaRPr lang="en-US" sz="1130" dirty="0"/>
          </a:p>
        </p:txBody>
      </p:sp>
      <p:sp>
        <p:nvSpPr>
          <p:cNvPr id="28" name="Text 21"/>
          <p:cNvSpPr/>
          <p:nvPr/>
        </p:nvSpPr>
        <p:spPr>
          <a:xfrm>
            <a:off x="1371600" y="555040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closing that gap requires building exactly this capability: a revenue science function that combines shipment-level modeling, elasticity analysis, and forecasting into a repeatable, proactive process.</a:t>
            </a:r>
            <a:endParaRPr lang="en-US" sz="1030" dirty="0"/>
          </a:p>
        </p:txBody>
      </p:sp>
      <p:sp>
        <p:nvSpPr>
          <p:cNvPr id="29" name="Text 2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&amp; Leakage Recovery Engine — Proof of Concept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ANALYSIS, 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Fishbone (Ishikawa)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contributing categories, all converging on the same effect — none of them fixable by a one-time rate change alone.</a:t>
            </a:r>
            <a:endParaRPr lang="en-US" sz="1150" dirty="0"/>
          </a:p>
        </p:txBody>
      </p:sp>
      <p:pic>
        <p:nvPicPr>
          <p:cNvPr id="5" name="Image 0" descr="/home/claude/fedex_poc/output/fishb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91640"/>
            <a:ext cx="11548872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&amp; Leakage Recovery Engine — Proof of Concept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POC,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POC works: Detect → Target → Forecast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pipeline (pandas, scikit-learn) built on a synthetic, publicly-grounded shipment dataset — 60,000 shipments across 900 accounts, 13 months.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11880" cy="4434840"/>
          </a:xfrm>
          <a:prstGeom prst="roundRect">
            <a:avLst>
              <a:gd name="adj" fmla="val 3038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084832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7" name="Image 0" descr="/home/claude/fedex_poc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220553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272491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DETECT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8952" y="3108960"/>
            <a:ext cx="30998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correct dimensional-weight revenue per shipment from length/width/height, and compare to what was actually billed.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58952" y="4416552"/>
            <a:ext cx="64008" cy="64008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1" name="Text 8"/>
          <p:cNvSpPr/>
          <p:nvPr/>
        </p:nvSpPr>
        <p:spPr>
          <a:xfrm>
            <a:off x="941832" y="4288536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FedEx's published 139 in³/lb DIM divisor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758952" y="4983480"/>
            <a:ext cx="64008" cy="64008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3" name="Text 10"/>
          <p:cNvSpPr/>
          <p:nvPr/>
        </p:nvSpPr>
        <p:spPr>
          <a:xfrm>
            <a:off x="941832" y="4855464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both the legacy and Aug-2025 rounding rules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758952" y="5550408"/>
            <a:ext cx="64008" cy="64008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5" name="Text 12"/>
          <p:cNvSpPr/>
          <p:nvPr/>
        </p:nvSpPr>
        <p:spPr>
          <a:xfrm>
            <a:off x="941832" y="5422392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the $ gap, shipment by shipment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4334256" y="1828800"/>
            <a:ext cx="3611880" cy="4434840"/>
          </a:xfrm>
          <a:prstGeom prst="roundRect">
            <a:avLst>
              <a:gd name="adj" fmla="val 3038"/>
            </a:avLst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0288" y="2084832"/>
            <a:ext cx="502920" cy="502920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18" name="Image 1" descr="/home/claude/fedex_poc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989" y="2205533"/>
            <a:ext cx="261518" cy="26151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90288" y="272491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TARGET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590288" y="3108960"/>
            <a:ext cx="30998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up to the account level; score every account on margin gap + leakage share, and size two levers: a no-risk billing fix and a capped, elasticity-aware repricing ask.</a:t>
            </a:r>
            <a:endParaRPr lang="en-US" sz="1060" dirty="0"/>
          </a:p>
        </p:txBody>
      </p:sp>
      <p:sp>
        <p:nvSpPr>
          <p:cNvPr id="21" name="Shape 17"/>
          <p:cNvSpPr/>
          <p:nvPr/>
        </p:nvSpPr>
        <p:spPr>
          <a:xfrm>
            <a:off x="4590288" y="4416552"/>
            <a:ext cx="64008" cy="64008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2" name="Text 18"/>
          <p:cNvSpPr/>
          <p:nvPr/>
        </p:nvSpPr>
        <p:spPr>
          <a:xfrm>
            <a:off x="4773168" y="4288536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ranks 900 accounts</a:t>
            </a:r>
            <a:endParaRPr lang="en-US" sz="960" dirty="0"/>
          </a:p>
        </p:txBody>
      </p:sp>
      <p:sp>
        <p:nvSpPr>
          <p:cNvPr id="23" name="Shape 19"/>
          <p:cNvSpPr/>
          <p:nvPr/>
        </p:nvSpPr>
        <p:spPr>
          <a:xfrm>
            <a:off x="4590288" y="4983480"/>
            <a:ext cx="64008" cy="64008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4" name="Text 20"/>
          <p:cNvSpPr/>
          <p:nvPr/>
        </p:nvSpPr>
        <p:spPr>
          <a:xfrm>
            <a:off x="4773168" y="4855464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Segment-level price elasticity (SME/Mid/Enterprise)</a:t>
            </a:r>
            <a:endParaRPr lang="en-US" sz="960" dirty="0"/>
          </a:p>
        </p:txBody>
      </p:sp>
      <p:sp>
        <p:nvSpPr>
          <p:cNvPr id="25" name="Shape 21"/>
          <p:cNvSpPr/>
          <p:nvPr/>
        </p:nvSpPr>
        <p:spPr>
          <a:xfrm>
            <a:off x="4590288" y="5550408"/>
            <a:ext cx="64008" cy="64008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6" name="Text 22"/>
          <p:cNvSpPr/>
          <p:nvPr/>
        </p:nvSpPr>
        <p:spPr>
          <a:xfrm>
            <a:off x="4773168" y="5422392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increases capped 2–9%, net of modeled volume loss</a:t>
            </a:r>
            <a:endParaRPr lang="en-US" sz="960" dirty="0"/>
          </a:p>
        </p:txBody>
      </p:sp>
      <p:sp>
        <p:nvSpPr>
          <p:cNvPr id="27" name="Shape 23"/>
          <p:cNvSpPr/>
          <p:nvPr/>
        </p:nvSpPr>
        <p:spPr>
          <a:xfrm>
            <a:off x="8165592" y="1828800"/>
            <a:ext cx="3611880" cy="4434840"/>
          </a:xfrm>
          <a:prstGeom prst="roundRect">
            <a:avLst>
              <a:gd name="adj" fmla="val 3038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421624" y="2084832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29" name="Image 2" descr="/home/claude/fedex_poc/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325" y="2205533"/>
            <a:ext cx="261518" cy="26151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421624" y="272491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FORECAST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8421624" y="3108960"/>
            <a:ext cx="30998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 leakage trend forward, and model the revenue-quality recovery curve as the fix ramps in over 6 months.</a:t>
            </a:r>
            <a:endParaRPr lang="en-US" sz="1060" dirty="0"/>
          </a:p>
        </p:txBody>
      </p:sp>
      <p:sp>
        <p:nvSpPr>
          <p:cNvPr id="32" name="Shape 27"/>
          <p:cNvSpPr/>
          <p:nvPr/>
        </p:nvSpPr>
        <p:spPr>
          <a:xfrm>
            <a:off x="8421624" y="4416552"/>
            <a:ext cx="64008" cy="64008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3" name="Text 28"/>
          <p:cNvSpPr/>
          <p:nvPr/>
        </p:nvSpPr>
        <p:spPr>
          <a:xfrm>
            <a:off x="8604504" y="4288536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 baseline vs. intervention scenario</a:t>
            </a:r>
            <a:endParaRPr lang="en-US" sz="960" dirty="0"/>
          </a:p>
        </p:txBody>
      </p:sp>
      <p:sp>
        <p:nvSpPr>
          <p:cNvPr id="34" name="Shape 29"/>
          <p:cNvSpPr/>
          <p:nvPr/>
        </p:nvSpPr>
        <p:spPr>
          <a:xfrm>
            <a:off x="8421624" y="4983480"/>
            <a:ext cx="64008" cy="64008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5" name="Text 30"/>
          <p:cNvSpPr/>
          <p:nvPr/>
        </p:nvSpPr>
        <p:spPr>
          <a:xfrm>
            <a:off x="8604504" y="4855464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rollout curve (15% → 80% capture)</a:t>
            </a:r>
            <a:endParaRPr lang="en-US" sz="960" dirty="0"/>
          </a:p>
        </p:txBody>
      </p:sp>
      <p:sp>
        <p:nvSpPr>
          <p:cNvPr id="36" name="Shape 31"/>
          <p:cNvSpPr/>
          <p:nvPr/>
        </p:nvSpPr>
        <p:spPr>
          <a:xfrm>
            <a:off x="8421624" y="5550408"/>
            <a:ext cx="64008" cy="64008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7" name="Text 32"/>
          <p:cNvSpPr/>
          <p:nvPr/>
        </p:nvSpPr>
        <p:spPr>
          <a:xfrm>
            <a:off x="8604504" y="5422392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6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an analyst worklist, not just a chart</a:t>
            </a:r>
            <a:endParaRPr lang="en-US" sz="960" dirty="0"/>
          </a:p>
        </p:txBody>
      </p:sp>
      <p:sp>
        <p:nvSpPr>
          <p:cNvPr id="38" name="Text 3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&amp; Leakage Recovery Engine — Proof of Concept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BUSINESS CASE,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finds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361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$72.1K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identified in sample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 of sample revenue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5361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+46.2%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20299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$ / shipment since DIM rule change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prior rounding rule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5361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20299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“act now” accounts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263640" y="23317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35.7% of total leakage $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869680" y="14173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0" y="15361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$69.6K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052560" y="20299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recovery potential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9052560" y="23317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 A + B, sample scale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02920" y="2880360"/>
            <a:ext cx="11183112" cy="3429000"/>
          </a:xfrm>
          <a:prstGeom prst="roundRect">
            <a:avLst>
              <a:gd name="adj" fmla="val 3200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leakage ($)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3364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marker: Aug 18, 2025 DIM-rounding rule change</a:t>
            </a:r>
            <a:endParaRPr lang="en-US" sz="9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731520" y="3703320"/>
          <a:ext cx="10698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&amp; Leakage Recovery Engine — Proof of Concept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BUSINESS CASE,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it's concentrated, and who to act on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by product category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in low-density goods — as a DIM-weight billing gap would predict.</a:t>
            </a:r>
            <a:endParaRPr lang="en-US" sz="93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2423160"/>
          <a:ext cx="50292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17920" y="150876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by priority tier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2240" y="19933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(margin gap + leakage share) — the top 15% of accounts carry 36% of the leakage.</a:t>
            </a:r>
            <a:endParaRPr lang="en-US" sz="93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400800" y="260604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&amp; Leakage Recovery Engine — Proof of Concept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BUSINESS CASE, 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is a worklist, not just a chart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accounts by recommended recovery — this is what an analyst or account manager would actually work from.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83112" cy="301752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103120"/>
                <a:gridCol w="1554480"/>
                <a:gridCol w="1554480"/>
                <a:gridCol w="1463040"/>
                <a:gridCol w="1399032"/>
              </a:tblGrid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$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Sugg. Price 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$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A100172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Bulky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$3.3K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A100620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Bulky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A100469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Bulky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A100809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Bulky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A100802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Bulky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A100380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Bulky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$4.4K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4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074920"/>
            <a:ext cx="11183112" cy="1005840"/>
          </a:xfrm>
          <a:prstGeom prst="roundRect">
            <a:avLst>
              <a:gd name="adj" fmla="val 10909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5212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row: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A100172 (SME, Home &amp; Bulky) is under-billed by ~$1.0K in the sample window. A capped 2.7% price move — sized to this account's own price elasticity — plus the DIM billing correction recovers essentially all of it, net of modeled volume risk.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&amp; Leakage Recovery Engine — Proof of Concept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BUSINESS CASE, PART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6-month forecast: do nothing vs. recommended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6949440" cy="4206240"/>
          </a:xfrm>
          <a:prstGeom prst="roundRect">
            <a:avLst>
              <a:gd name="adj" fmla="val 2609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783080"/>
          <a:ext cx="64922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508760"/>
            <a:ext cx="3977640" cy="4206240"/>
          </a:xfrm>
          <a:prstGeom prst="roundRect">
            <a:avLst>
              <a:gd name="adj" fmla="val 2759"/>
            </a:avLst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55280" y="1737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$12.6K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955280" y="2286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recovery, 6 months (sample scale)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0" y="2834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3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FedEx's real shipment volumes — many millions of packages a day — this sample is a rounding error. That's the point: the POC's job is to prove the method (detect → target → forecast) on a small, transparent dataset, not to size FedEx's real opportunity.</a:t>
            </a:r>
            <a:endParaRPr lang="en-US" sz="1030" dirty="0"/>
          </a:p>
          <a:p>
            <a:pPr indent="0" marL="0">
              <a:lnSpc>
                <a:spcPts val="1500"/>
              </a:lnSpc>
              <a:buNone/>
            </a:pPr>
            <a:endParaRPr lang="en-US" sz="103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3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next step is validating this pipeline on real shipment and billing data, where the same logic would surface the actual dollar opportunity.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&amp; Leakage Recovery Engine — Proof of Concept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POC TO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 path onto real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24328" cy="4251960"/>
          </a:xfrm>
          <a:prstGeom prst="roundRect">
            <a:avLst>
              <a:gd name="adj" fmla="val 4181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938528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6" name="Image 0" descr="/home/claude/fedex_poc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5" y="205922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0664" y="254203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Days 0–30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0664" y="2788920"/>
            <a:ext cx="2167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40664" y="3246120"/>
            <a:ext cx="21671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synthetic data with a sampled extract of real shipment/billing records; recalibrate cost &amp; elasticity assumptions with Finance and Pricing.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1089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4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28416" y="1691640"/>
            <a:ext cx="2624328" cy="4251960"/>
          </a:xfrm>
          <a:prstGeom prst="roundRect">
            <a:avLst>
              <a:gd name="adj" fmla="val 4181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1938528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13" name="Image 1" descr="/home/claude/fedex_poc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2059229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54203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Days 30–90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566160" y="2788920"/>
            <a:ext cx="2167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3566160" y="3246120"/>
            <a:ext cx="21671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actual rating/billing systems (e.g., Teradata/Oracle); stand up account scorecards refreshed on a rolling basis, not quarterly.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934456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4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153912" y="1691640"/>
            <a:ext cx="2624328" cy="4251960"/>
          </a:xfrm>
          <a:prstGeom prst="roundRect">
            <a:avLst>
              <a:gd name="adj" fmla="val 4181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91656" y="1938528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20" name="Image 2" descr="/home/claude/fedex_poc/icons/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57" y="2059229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91656" y="254203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Days 90–180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391656" y="2788920"/>
            <a:ext cx="2167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6391656" y="3246120"/>
            <a:ext cx="21671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Lever A (billing correction) end-to-end; pilot Lever B (targeted repricing) with a Sales-approved account cohort, tracking churn vs. forecast.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759952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4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8979408" y="1691640"/>
            <a:ext cx="2624328" cy="4251960"/>
          </a:xfrm>
          <a:prstGeom prst="roundRect">
            <a:avLst>
              <a:gd name="adj" fmla="val 4181"/>
            </a:avLst>
          </a:prstGeom>
          <a:solidFill>
            <a:srgbClr val="F6F3FB"/>
          </a:solidFill>
          <a:ln w="12700">
            <a:solidFill>
              <a:srgbClr val="E4DC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03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17152" y="1938528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27" name="Image 3" descr="/home/claude/fedex_poc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853" y="2059229"/>
            <a:ext cx="261518" cy="26151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17152" y="254203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Ongoing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9217152" y="2788920"/>
            <a:ext cx="2167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50" dirty="0"/>
          </a:p>
        </p:txBody>
      </p:sp>
      <p:sp>
        <p:nvSpPr>
          <p:cNvPr id="30" name="Text 24"/>
          <p:cNvSpPr/>
          <p:nvPr/>
        </p:nvSpPr>
        <p:spPr>
          <a:xfrm>
            <a:off x="9217152" y="3246120"/>
            <a:ext cx="21671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additional segments/products; document the method fully so it can be run and extended by others, not just re-run as a one-off.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&amp; Leakage Recovery Engine — Proof of Concept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55064"/>
            <a:ext cx="457200" cy="45720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5" name="Image 0" descr="/home/claude/fedex_poc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6479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81912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structural, not seasonal</a:t>
            </a:r>
            <a:endParaRPr lang="en-US" sz="1180" dirty="0"/>
          </a:p>
        </p:txBody>
      </p:sp>
      <p:sp>
        <p:nvSpPr>
          <p:cNvPr id="7" name="Shape 4"/>
          <p:cNvSpPr/>
          <p:nvPr/>
        </p:nvSpPr>
        <p:spPr>
          <a:xfrm>
            <a:off x="5669280" y="1655064"/>
            <a:ext cx="0" cy="640080"/>
          </a:xfrm>
          <a:prstGeom prst="line">
            <a:avLst/>
          </a:prstGeom>
          <a:noFill/>
          <a:ln w="12700">
            <a:solidFill>
              <a:srgbClr val="E4DC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581912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rate cards and periodic reviews can't track fast-moving package-density mix, so low-density shipments are billed below true cost-to-serve — and it compounds every rate change.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2496312"/>
            <a:ext cx="457200" cy="45720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10" name="Image 1" descr="/home/claude/fedex_poc/icons/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60604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23160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method: Detect → Target → Forecast</a:t>
            </a:r>
            <a:endParaRPr lang="en-US" sz="1180" dirty="0"/>
          </a:p>
        </p:txBody>
      </p:sp>
      <p:sp>
        <p:nvSpPr>
          <p:cNvPr id="12" name="Shape 8"/>
          <p:cNvSpPr/>
          <p:nvPr/>
        </p:nvSpPr>
        <p:spPr>
          <a:xfrm>
            <a:off x="5669280" y="2496312"/>
            <a:ext cx="0" cy="640080"/>
          </a:xfrm>
          <a:prstGeom prst="line">
            <a:avLst/>
          </a:prstGeom>
          <a:noFill/>
          <a:ln w="12700">
            <a:solidFill>
              <a:srgbClr val="E4DCF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97880" y="2423160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Python pipeline (pandas, scikit-learn) — shipment-level leakage detection, composite account risk scoring, and regression-based forecasting.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3337560"/>
            <a:ext cx="457200" cy="45720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15" name="Image 2" descr="/home/claude/fedex_poc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4472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264408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is a worklist, not just a chart</a:t>
            </a:r>
            <a:endParaRPr lang="en-US" sz="1180" dirty="0"/>
          </a:p>
        </p:txBody>
      </p:sp>
      <p:sp>
        <p:nvSpPr>
          <p:cNvPr id="17" name="Shape 12"/>
          <p:cNvSpPr/>
          <p:nvPr/>
        </p:nvSpPr>
        <p:spPr>
          <a:xfrm>
            <a:off x="5669280" y="3337560"/>
            <a:ext cx="0" cy="640080"/>
          </a:xfrm>
          <a:prstGeom prst="line">
            <a:avLst/>
          </a:prstGeom>
          <a:noFill/>
          <a:ln w="12700">
            <a:solidFill>
              <a:srgbClr val="E4DCF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897880" y="3264408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ranked, account-level list with two concrete levers and a capped, elasticity-aware price recommendation per account — something a team can act on directly.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20" name="Image 3" descr="/home/claude/fedex_poc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428853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4105656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built to be cross-functional</a:t>
            </a:r>
            <a:endParaRPr lang="en-US" sz="1180" dirty="0"/>
          </a:p>
        </p:txBody>
      </p:sp>
      <p:sp>
        <p:nvSpPr>
          <p:cNvPr id="22" name="Shape 16"/>
          <p:cNvSpPr/>
          <p:nvPr/>
        </p:nvSpPr>
        <p:spPr>
          <a:xfrm>
            <a:off x="5669280" y="4178808"/>
            <a:ext cx="0" cy="640080"/>
          </a:xfrm>
          <a:prstGeom prst="line">
            <a:avLst/>
          </a:prstGeom>
          <a:noFill/>
          <a:ln w="12700">
            <a:solidFill>
              <a:srgbClr val="E4DC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897880" y="4105656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fishbone analysis spans people, process, technology, policy, and market causes — the fix touches Pricing, Sales, Finance, and Ops together, not one team alone.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5020056"/>
            <a:ext cx="457200" cy="457200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25" name="Image 4" descr="/home/claude/fedex_poc/icons/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5129784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4946904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b="1" dirty="0">
                <a:solidFill>
                  <a:srgbClr val="4D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step is validation on real data</a:t>
            </a:r>
            <a:endParaRPr lang="en-US" sz="1180" dirty="0"/>
          </a:p>
        </p:txBody>
      </p:sp>
      <p:sp>
        <p:nvSpPr>
          <p:cNvPr id="27" name="Shape 20"/>
          <p:cNvSpPr/>
          <p:nvPr/>
        </p:nvSpPr>
        <p:spPr>
          <a:xfrm>
            <a:off x="5669280" y="5020056"/>
            <a:ext cx="0" cy="640080"/>
          </a:xfrm>
          <a:prstGeom prst="line">
            <a:avLst/>
          </a:prstGeom>
          <a:noFill/>
          <a:ln w="12700">
            <a:solidFill>
              <a:srgbClr val="E4DCF2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897880" y="4946904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POC's job is to prove the method on a small, transparent dataset. The path to real impact is a phased rollout — validate, integrate, pilot, scale.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&amp; Leakage Recovery Engine — Proof of Concept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206240"/>
            <a:ext cx="5943600" cy="5943600"/>
          </a:xfrm>
          <a:prstGeom prst="ellipse">
            <a:avLst/>
          </a:prstGeom>
          <a:solidFill>
            <a:srgbClr val="2E0C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9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POC is a starting point, not a finished product — the real opportunity is validating this method on actual shipment and billing data, working alongside Pricing, Sales, and Finance.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4251960"/>
            <a:ext cx="384048" cy="384048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6" name="Image 0" descr="/home/claude/fedex_poc/icons/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852" y="4344132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42611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mahnakritika3@gmail.com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48463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working code, synthetic dataset, and an interactive dashboard are included as supporting attachments.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&amp; Leakage Recovery Engine — Proof of Concept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2026-08-13T06:08:32Z</dcterms:created>
  <dcterms:modified xsi:type="dcterms:W3CDTF">2026-08-13T06:08:32Z</dcterms:modified>
</cp:coreProperties>
</file>